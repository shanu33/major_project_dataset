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members of the review panel, our major project addresses a fundamental bottleneck in digital construction: the lack of auditable, evidence-controlled data pipelines for quantity estimation. Instead of treating quantity surveying as an ungrounded generative AI task, we developed a rigorous multi-document architecture for the OIL India Duliajan BQ Housing Complex. Our system transcribes architectural and structural drawings, reconciles inter-trade discrepancies, and enforces an engineered refusal guardrail that halts takeoff when drawings lack prerequisite engineering details.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current AI research in construction estimation suffers from prompt poisoning. Researchers frequently provide both drawings and the final BOQ to the model, claiming high benchmark agreement. In reality, the model simply memorized or copied the BOQ text. Furthermore, when tender drawings omit bar bending schedules or pile depths, generic models hallucinate numbers instead of admitting data is missing. Under IS 1200 and standard Indian public works contracts, an estimate without verifiable provenance is legally and commercially unusable.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civil engineering practice, an architectural plan only shows walls and room uses; the structural drawing shows column sizes and reinforcement, and the specifications define concrete mixes. If an AI system is trained on random floor plans scraped from the internet, it cannot learn real-world civil engineering. Our pilot captures a complete, closed-loop tender package from RITES and Oil India Limited, preserving all inter-document dependencies exactly as encountered on a live construction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benchmark project is an authentic, high-seismic public sector housing development in Assam. We isolated one typical Stilt+6 BQ residential tower as our benchmark unit. It features 207 bored cast-in-situ piles, 49 vertical load-bearing columns and shear walls, 34 framing beams per floor, and 24 identical flats across 6 upper storeys. The drawing corpus comprises 55 audited tender drawing sheets across architecture, structure, and MEP.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core methodological safeguard: the ontological firewall. We strictly separate predictive AI inputs from blind evaluation targets. The AI model only receives design drawings and specifications. The tender BOQ and contract costs remain strictly behind a blind evaluation firewall. Furthermore, because RITES issued an aggregate 8-tower BOQ without an official single-tower breakdown, BOQ validation was not performed and cost accuracy is not calculated to preserve academic integrity.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quantity surveying, not all numbers have the same authority. We established a 9-tier provenance hierarchy. When an engineer reads a column schedule, that is direct sheet observation. When room bounds are multiplied, that is derived geometry. Crucially, we enforced a strict rule: no assumption may be tagged with high confidence. We also completely eliminated legacy ungrounded heuristics—such as blanket 23% and 10% wall deductions—insisting that every deduction map to scheduled opening marks.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11-stage system architecture. Rather than an ungrounded black-box script, we structure quantity takeoff into discrete, verifiable phases. Phases 3 through 5 extract Foundation, Structural Frame, and Architecture into separate registers. Phase 6 performs cross-register reconciliation. Phase 7 maps IS 1200 measurement rules to input dependencies. Phase 8 executes sample calculations while intercepting and blocking unsafe takeoff.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shows our reconciliation layer in action. In real projects, architectural and structural drawings frequently exhibit drafting misalignments. We constructed a floor scope reconciliation matrix reconciling all 9 building levels. For example, Sheet 104 does not print column heights; our reconciliation layer proved that the 3050mm floor height derives from Architectural Section A-A. This proves why isolated drawing extraction fails without cross-register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our refusal engine. In computer science, when a program halts, it is often viewed as an exception. But in civil engineering quantity surveying, halting when drawings lack critical data is the hallmark of professional competence. We mapped 14 standardized IS 1200 formulas into a dependency engine. When the engine attempts to evaluate pile concrete, it discovers that pile lengths are omitted from Sheet 100. Instead of guessing 18 meters, it safely blocks execution due to missing evidence and logs an explicit refusal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present our traceable sample quantity results. Where drawings provide verified geometric dimensions, our formula engine executes deterministic geometry with complete fidelity. For Toilet Door D1, 0.800m by 2.100m gives exactly 1.680 square meters. For Window W1, 1.200m by 1.200m yields 1.440 square meters. For the Living/Dining room, 5.520m by 3.970m yields 21.914 square meters. Notice that we deliberately did not multiply these by 24 flats—because typical flats have shaft and plumbing variations that require floor-wise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details our project limitations and the 14 blocked scopes. We maintain complete transparency regarding what cannot be calculated with current tender drawings. Full takeoff remains blocked where evidence is missing. Tender drawings are schematic representations; they are not construction shop drawings. Without an engineer-approved Bar Bending Schedule, steel reinforcement cannot be computed deterministically. Acknowledging these gaps is what makes our framework robust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major project demonstrates that the primary challenge in construction AI is not generating numbers—it is data provenance, document reconciliation, and hallucination control. We have built a verified pilot pipeline that handles complex tender drawings, enforces IS 1200 measurement principles, and blocks unsafe takeoff. Our immediate next steps are recovering the single-tower BOQ and BBS, cross-validating on a second project, deploying the demo interface, and transcribing the 18 MEP sheets.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0728655" cy="5394960"/>
          </a:xfrm>
          <a:prstGeom prst="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234440"/>
            <a:ext cx="9601200" cy="4389120"/>
          </a:xfrm>
          <a:prstGeom prst="rect">
            <a:avLst/>
          </a:prstGeom>
          <a:noFill/>
        </p:spPr>
        <p:txBody>
          <a:bodyPr wrap="square">
            <a:spAutoFit/>
          </a:bodyPr>
          <a:lstStyle/>
          <a:p>
            <a:pPr>
              <a:spcAft>
                <a:spcPts val="1600"/>
              </a:spcAft>
              <a:defRPr sz="1200" b="1">
                <a:solidFill>
                  <a:srgbClr val="2B6CB0"/>
                </a:solidFill>
              </a:defRPr>
            </a:pPr>
            <a:r>
              <a:t>DEPARTMENT OF CIVIL ENGINEERING | MAJOR PROJECT REVIEW</a:t>
            </a:r>
          </a:p>
          <a:p>
            <a:pPr>
              <a:defRPr sz="2800" b="1">
                <a:solidFill>
                  <a:srgbClr val="0F2C59"/>
                </a:solidFill>
              </a:defRPr>
            </a:pPr>
            <a:r>
              <a:t>Evidence-Controlled Civil Quantity Intelligence</a:t>
            </a:r>
          </a:p>
          <a:p>
            <a:pPr>
              <a:spcAft>
                <a:spcPts val="2600"/>
              </a:spcAft>
              <a:defRPr sz="1600">
                <a:solidFill>
                  <a:srgbClr val="2B6CB0"/>
                </a:solidFill>
              </a:defRPr>
            </a:pPr>
            <a:r>
              <a:t>Multi-Document Benchmark &amp; Architecture on OIL India BQ Housing</a:t>
            </a:r>
          </a:p>
          <a:p>
            <a:pPr>
              <a:spcAft>
                <a:spcPts val="1000"/>
              </a:spcAft>
              <a:defRPr sz="1300" b="1">
                <a:solidFill>
                  <a:srgbClr val="0F2C59"/>
                </a:solidFill>
              </a:defRPr>
            </a:pPr>
            <a:r>
              <a:t>Project Scope &amp; Research Objective:</a:t>
            </a:r>
          </a:p>
          <a:p>
            <a:pPr>
              <a:spcAft>
                <a:spcPts val="600"/>
              </a:spcAft>
              <a:defRPr sz="1150">
                <a:solidFill>
                  <a:srgbClr val="334155"/>
                </a:solidFill>
              </a:defRPr>
            </a:pPr>
            <a:r>
              <a:t>•  Benchmark Scope: Typical Stilt+6 Residential Housing Block (24 Units, Seismic Zone V).</a:t>
            </a:r>
          </a:p>
          <a:p>
            <a:pPr>
              <a:spcAft>
                <a:spcPts val="600"/>
              </a:spcAft>
              <a:defRPr sz="1150">
                <a:solidFill>
                  <a:srgbClr val="334155"/>
                </a:solidFill>
              </a:defRPr>
            </a:pPr>
            <a:r>
              <a:t>•  Project Authority: Client: Oil India Limited | Project Management Consultant: RITES Limited.</a:t>
            </a:r>
          </a:p>
          <a:p>
            <a:pPr>
              <a:spcAft>
                <a:spcPts val="600"/>
              </a:spcAft>
              <a:defRPr sz="1150">
                <a:solidFill>
                  <a:srgbClr val="334155"/>
                </a:solidFill>
              </a:defRPr>
            </a:pPr>
            <a:r>
              <a:t>•  Core Objective: Establish auditable multi-document data extraction linking drawings with IS 1200 rules while enforcing refusal guardrails against AI hallucination.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The Core Problem: AI Hallucination, Prompt Leakage, and Lost Provenance</a:t>
            </a:r>
          </a:p>
        </p:txBody>
      </p:sp>
      <p:sp>
        <p:nvSpPr>
          <p:cNvPr id="5" name="Rounded Rectangle 4"/>
          <p:cNvSpPr/>
          <p:nvPr/>
        </p:nvSpPr>
        <p:spPr>
          <a:xfrm>
            <a:off x="73152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Current Limitations in AI Estimation</a:t>
            </a:r>
          </a:p>
          <a:p>
            <a:pPr>
              <a:spcAft>
                <a:spcPts val="200"/>
              </a:spcAft>
              <a:defRPr sz="1150" b="1">
                <a:solidFill>
                  <a:srgbClr val="0F2C59"/>
                </a:solidFill>
              </a:defRPr>
            </a:pPr>
            <a:r>
              <a:t>•  The Black-Box Generation Trap</a:t>
            </a:r>
          </a:p>
          <a:p>
            <a:pPr>
              <a:spcAft>
                <a:spcPts val="800"/>
              </a:spcAft>
              <a:defRPr sz="1050">
                <a:solidFill>
                  <a:srgbClr val="334155"/>
                </a:solidFill>
              </a:defRPr>
            </a:pPr>
            <a:r>
              <a:t>    Standard Vision-Language Models predict bulk quantities without any traceable geometric audit trail back to drawing gridlines or schedule callouts.</a:t>
            </a:r>
          </a:p>
          <a:p>
            <a:pPr>
              <a:spcAft>
                <a:spcPts val="200"/>
              </a:spcAft>
              <a:defRPr sz="1150" b="1">
                <a:solidFill>
                  <a:srgbClr val="0F2C59"/>
                </a:solidFill>
              </a:defRPr>
            </a:pPr>
            <a:r>
              <a:t>•  Prompt Poisoning &amp; Data Leakage</a:t>
            </a:r>
          </a:p>
          <a:p>
            <a:pPr>
              <a:spcAft>
                <a:spcPts val="800"/>
              </a:spcAft>
              <a:defRPr sz="1050">
                <a:solidFill>
                  <a:srgbClr val="334155"/>
                </a:solidFill>
              </a:defRPr>
            </a:pPr>
            <a:r>
              <a:t>    Feeding tender BOQs directly into AI prompts leads to circular reasoning; the AI recites the BOQ rather than truly parsing and understanding drawing geometry.</a:t>
            </a:r>
          </a:p>
        </p:txBody>
      </p:sp>
      <p:sp>
        <p:nvSpPr>
          <p:cNvPr id="7" name="Rounded Rectangle 6"/>
          <p:cNvSpPr/>
          <p:nvPr/>
        </p:nvSpPr>
        <p:spPr>
          <a:xfrm>
            <a:off x="630936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Contractual &amp; Civil Engineering Realities</a:t>
            </a:r>
          </a:p>
          <a:p>
            <a:pPr>
              <a:spcAft>
                <a:spcPts val="200"/>
              </a:spcAft>
              <a:defRPr sz="1150" b="1">
                <a:solidFill>
                  <a:srgbClr val="0F2C59"/>
                </a:solidFill>
              </a:defRPr>
            </a:pPr>
            <a:r>
              <a:t>•  Synthetic Rules-of-Thumb</a:t>
            </a:r>
          </a:p>
          <a:p>
            <a:pPr>
              <a:spcAft>
                <a:spcPts val="800"/>
              </a:spcAft>
              <a:defRPr sz="1050">
                <a:solidFill>
                  <a:srgbClr val="334155"/>
                </a:solidFill>
              </a:defRPr>
            </a:pPr>
            <a:r>
              <a:t>    Existing estimation tools rely heavily on ungrounded percentages (e.g. blanket 23% window deductions and 10% door deductions) that introduce compounding errors.</a:t>
            </a:r>
          </a:p>
          <a:p>
            <a:pPr>
              <a:spcAft>
                <a:spcPts val="200"/>
              </a:spcAft>
              <a:defRPr sz="1150" b="1">
                <a:solidFill>
                  <a:srgbClr val="0F2C59"/>
                </a:solidFill>
              </a:defRPr>
            </a:pPr>
            <a:r>
              <a:t>•  Contractual &amp; Engineering Realities</a:t>
            </a:r>
          </a:p>
          <a:p>
            <a:pPr>
              <a:spcAft>
                <a:spcPts val="800"/>
              </a:spcAft>
              <a:defRPr sz="1050">
                <a:solidFill>
                  <a:srgbClr val="334155"/>
                </a:solidFill>
              </a:defRPr>
            </a:pPr>
            <a:r>
              <a:t>    In public works contracts, ungrounded estimates trigger formal disputes, contractor claims, and budget overruns; IS 1200 demands verifiable geometric dimensions.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Why Project-Level Document Matching Matters</a:t>
            </a:r>
          </a:p>
        </p:txBody>
      </p:sp>
      <p:sp>
        <p:nvSpPr>
          <p:cNvPr id="5" name="Rounded Rectangle 4"/>
          <p:cNvSpPr/>
          <p:nvPr/>
        </p:nvSpPr>
        <p:spPr>
          <a:xfrm>
            <a:off x="73152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Inter-Document Interdependence</a:t>
            </a:r>
          </a:p>
          <a:p>
            <a:pPr>
              <a:spcAft>
                <a:spcPts val="200"/>
              </a:spcAft>
              <a:defRPr sz="1150" b="1">
                <a:solidFill>
                  <a:srgbClr val="0F2C59"/>
                </a:solidFill>
              </a:defRPr>
            </a:pPr>
            <a:r>
              <a:t>•  Inter-Document Dependencies in Civil Engineering</a:t>
            </a:r>
          </a:p>
          <a:p>
            <a:pPr>
              <a:spcAft>
                <a:spcPts val="800"/>
              </a:spcAft>
              <a:defRPr sz="1050">
                <a:solidFill>
                  <a:srgbClr val="334155"/>
                </a:solidFill>
              </a:defRPr>
            </a:pPr>
            <a:r>
              <a:t>    A quantity surveyor never calculates from one drawing alone. Every single element requires cross-referencing across multiple specialized disciplines.</a:t>
            </a:r>
          </a:p>
          <a:p>
            <a:pPr>
              <a:spcAft>
                <a:spcPts val="200"/>
              </a:spcAft>
              <a:defRPr sz="1150" b="1">
                <a:solidFill>
                  <a:srgbClr val="0F2C59"/>
                </a:solidFill>
              </a:defRPr>
            </a:pPr>
            <a:r>
              <a:t>•  The Cross-Referencing Chain</a:t>
            </a:r>
          </a:p>
          <a:p>
            <a:pPr>
              <a:spcAft>
                <a:spcPts val="800"/>
              </a:spcAft>
              <a:defRPr sz="1050">
                <a:solidFill>
                  <a:srgbClr val="334155"/>
                </a:solidFill>
              </a:defRPr>
            </a:pPr>
            <a:r>
              <a:t>    Measuring an RCC beam requires architectural sections (clear floor height), structural plans (framing spans), rebar schedules (bar marks), and DBR (concrete grade).</a:t>
            </a:r>
          </a:p>
        </p:txBody>
      </p:sp>
      <p:sp>
        <p:nvSpPr>
          <p:cNvPr id="7" name="Rounded Rectangle 6"/>
          <p:cNvSpPr/>
          <p:nvPr/>
        </p:nvSpPr>
        <p:spPr>
          <a:xfrm>
            <a:off x="630936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Authentic Tender Packaging</a:t>
            </a:r>
          </a:p>
          <a:p>
            <a:pPr>
              <a:spcAft>
                <a:spcPts val="200"/>
              </a:spcAft>
              <a:defRPr sz="1150" b="1">
                <a:solidFill>
                  <a:srgbClr val="0F2C59"/>
                </a:solidFill>
              </a:defRPr>
            </a:pPr>
            <a:r>
              <a:t>•  Why Disconnected Document Scraping Fails</a:t>
            </a:r>
          </a:p>
          <a:p>
            <a:pPr>
              <a:spcAft>
                <a:spcPts val="800"/>
              </a:spcAft>
              <a:defRPr sz="1050">
                <a:solidFill>
                  <a:srgbClr val="334155"/>
                </a:solidFill>
              </a:defRPr>
            </a:pPr>
            <a:r>
              <a:t>    Scraping disconnected drawings from random internet sources creates geometric incoherence; training AI on mismatched pairs teaches noise rather than structural logic.</a:t>
            </a:r>
          </a:p>
          <a:p>
            <a:pPr>
              <a:spcAft>
                <a:spcPts val="200"/>
              </a:spcAft>
              <a:defRPr sz="1150" b="1">
                <a:solidFill>
                  <a:srgbClr val="0F2C59"/>
                </a:solidFill>
              </a:defRPr>
            </a:pPr>
            <a:r>
              <a:t>•  Closed-Loop Tender Ecosystem</a:t>
            </a:r>
          </a:p>
          <a:p>
            <a:pPr>
              <a:spcAft>
                <a:spcPts val="800"/>
              </a:spcAft>
              <a:defRPr sz="1050">
                <a:solidFill>
                  <a:srgbClr val="334155"/>
                </a:solidFill>
              </a:defRPr>
            </a:pPr>
            <a:r>
              <a:t>    This pilot captures the complete, authentic tender package: 55 drawings, Design Basis Report, Geotechnical Report, Tender Notices, and CPWD Specifications.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Pilot Benchmark: OIL India Workmen Housing Complex, Duliajan</a:t>
            </a:r>
          </a:p>
        </p:txBody>
      </p:sp>
      <p:sp>
        <p:nvSpPr>
          <p:cNvPr id="5" name="Rounded Rectangle 4"/>
          <p:cNvSpPr/>
          <p:nvPr/>
        </p:nvSpPr>
        <p:spPr>
          <a:xfrm>
            <a:off x="73152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Contractual &amp; Structural Context</a:t>
            </a:r>
          </a:p>
          <a:p>
            <a:pPr>
              <a:spcAft>
                <a:spcPts val="200"/>
              </a:spcAft>
              <a:defRPr sz="1150" b="1">
                <a:solidFill>
                  <a:srgbClr val="0F2C59"/>
                </a:solidFill>
              </a:defRPr>
            </a:pPr>
            <a:r>
              <a:t>•  Tender Identity &amp; Authority</a:t>
            </a:r>
          </a:p>
          <a:p>
            <a:pPr>
              <a:spcAft>
                <a:spcPts val="800"/>
              </a:spcAft>
              <a:defRPr sz="1050">
                <a:solidFill>
                  <a:srgbClr val="334155"/>
                </a:solidFill>
              </a:defRPr>
            </a:pPr>
            <a:r>
              <a:t>    Client: Oil India Limited | PMC: RITES Limited | Tender ID: RITES/NERPO/OIL/BQ-HOUSING/25 | Award Value: Rs 128.14 Cr (Dec 2025 status record).</a:t>
            </a:r>
          </a:p>
          <a:p>
            <a:pPr>
              <a:spcAft>
                <a:spcPts val="200"/>
              </a:spcAft>
              <a:defRPr sz="1150" b="1">
                <a:solidFill>
                  <a:srgbClr val="0F2C59"/>
                </a:solidFill>
              </a:defRPr>
            </a:pPr>
            <a:r>
              <a:t>•  Seismic &amp; Geotechnical Context</a:t>
            </a:r>
          </a:p>
          <a:p>
            <a:pPr>
              <a:spcAft>
                <a:spcPts val="800"/>
              </a:spcAft>
              <a:defRPr sz="1050">
                <a:solidFill>
                  <a:srgbClr val="334155"/>
                </a:solidFill>
              </a:defRPr>
            </a:pPr>
            <a:r>
              <a:t>    Located in Duliajan, Upper Assam (Seismic Zone V, Zone Factor Z=0.36). Requires heavy ductile detailing per IS 13920:2016 and deep bored pile foundations.</a:t>
            </a:r>
          </a:p>
        </p:txBody>
      </p:sp>
      <p:sp>
        <p:nvSpPr>
          <p:cNvPr id="7" name="Rounded Rectangle 6"/>
          <p:cNvSpPr/>
          <p:nvPr/>
        </p:nvSpPr>
        <p:spPr>
          <a:xfrm>
            <a:off x="630936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Physical Scope &amp; Drawing Corpus</a:t>
            </a:r>
          </a:p>
          <a:p>
            <a:pPr>
              <a:spcAft>
                <a:spcPts val="200"/>
              </a:spcAft>
              <a:defRPr sz="1150" b="1">
                <a:solidFill>
                  <a:srgbClr val="0F2C59"/>
                </a:solidFill>
              </a:defRPr>
            </a:pPr>
            <a:r>
              <a:t>•  Selected Benchmark Unit</a:t>
            </a:r>
          </a:p>
          <a:p>
            <a:pPr>
              <a:spcAft>
                <a:spcPts val="800"/>
              </a:spcAft>
              <a:defRPr sz="1050">
                <a:solidFill>
                  <a:srgbClr val="334155"/>
                </a:solidFill>
              </a:defRPr>
            </a:pPr>
            <a:r>
              <a:t>    One typical Stilt+6 BQ Residential Housing Tower (Footprint: 30.08m x 16.08m = 483.60 m2, Total Height: 24.00m, 24 residential units).</a:t>
            </a:r>
          </a:p>
          <a:p>
            <a:pPr>
              <a:spcAft>
                <a:spcPts val="200"/>
              </a:spcAft>
              <a:defRPr sz="1150" b="1">
                <a:solidFill>
                  <a:srgbClr val="0F2C59"/>
                </a:solidFill>
              </a:defRPr>
            </a:pPr>
            <a:r>
              <a:t>•  Corpus Under Audit (55 Sheets)</a:t>
            </a:r>
          </a:p>
          <a:p>
            <a:pPr>
              <a:spcAft>
                <a:spcPts val="800"/>
              </a:spcAft>
              <a:defRPr sz="1050">
                <a:solidFill>
                  <a:srgbClr val="334155"/>
                </a:solidFill>
              </a:defRPr>
            </a:pPr>
            <a:r>
              <a:t>    26 Architectural sheets (AR/001-026), 23 Structural sheets (STR/100-150), 18 Building Services sheets (MEP/001-018), plus DBR, Geotech, and CPWD Specifications.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Ontological Separation: Predictive Inputs vs Ground-Truth Targets</a:t>
            </a:r>
          </a:p>
        </p:txBody>
      </p:sp>
      <p:sp>
        <p:nvSpPr>
          <p:cNvPr id="5" name="Rounded Rectangle 4"/>
          <p:cNvSpPr/>
          <p:nvPr/>
        </p:nvSpPr>
        <p:spPr>
          <a:xfrm>
            <a:off x="731520" y="1600200"/>
            <a:ext cx="5029200" cy="3337560"/>
          </a:xfrm>
          <a:prstGeom prst="roundRect">
            <a:avLst/>
          </a:prstGeom>
          <a:solidFill>
            <a:srgbClr val="EEF2FF"/>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663440" cy="3017520"/>
          </a:xfrm>
          <a:prstGeom prst="rect">
            <a:avLst/>
          </a:prstGeom>
          <a:noFill/>
        </p:spPr>
        <p:txBody>
          <a:bodyPr wrap="square">
            <a:spAutoFit/>
          </a:bodyPr>
          <a:lstStyle/>
          <a:p>
            <a:pPr>
              <a:spcAft>
                <a:spcPts val="1000"/>
              </a:spcAft>
              <a:defRPr sz="1200" b="1">
                <a:solidFill>
                  <a:srgbClr val="0F2C59"/>
                </a:solidFill>
              </a:defRPr>
            </a:pPr>
            <a:r>
              <a:t>PREDICTIVE AI INPUT DOMAIN (VISIBLE)</a:t>
            </a:r>
          </a:p>
          <a:p>
            <a:pPr>
              <a:spcAft>
                <a:spcPts val="600"/>
              </a:spcAft>
              <a:defRPr sz="1050">
                <a:solidFill>
                  <a:srgbClr val="334155"/>
                </a:solidFill>
              </a:defRPr>
            </a:pPr>
            <a:r>
              <a:t>•  Architectural Drawings (AR/TD/001 - 026): Floor plans, elevations, sections, door/window schedules.</a:t>
            </a:r>
          </a:p>
          <a:p>
            <a:pPr>
              <a:spcAft>
                <a:spcPts val="600"/>
              </a:spcAft>
              <a:defRPr sz="1050">
                <a:solidFill>
                  <a:srgbClr val="334155"/>
                </a:solidFill>
              </a:defRPr>
            </a:pPr>
            <a:r>
              <a:t>•  Structural Drawings (STR/TD/100 - 110): Pile layouts, column/wall schedules, beam framing, slab details.</a:t>
            </a:r>
          </a:p>
          <a:p>
            <a:pPr>
              <a:spcAft>
                <a:spcPts val="600"/>
              </a:spcAft>
              <a:defRPr sz="1050">
                <a:solidFill>
                  <a:srgbClr val="334155"/>
                </a:solidFill>
              </a:defRPr>
            </a:pPr>
            <a:r>
              <a:t>•  Engineering Specifications: Design Basis Report (DBR), CPWD Specifications 2019, IS 1200 measurement rules.</a:t>
            </a:r>
          </a:p>
          <a:p>
            <a:pPr>
              <a:spcAft>
                <a:spcPts val="600"/>
              </a:spcAft>
              <a:defRPr sz="1050">
                <a:solidFill>
                  <a:srgbClr val="334155"/>
                </a:solidFill>
              </a:defRPr>
            </a:pPr>
            <a:r>
              <a:t>•  Zero Leakage Guarantee: Zero BOQ items, priced rates, or cost figures are placed in extraction prompts.</a:t>
            </a:r>
          </a:p>
        </p:txBody>
      </p:sp>
      <p:sp>
        <p:nvSpPr>
          <p:cNvPr id="7" name="Rounded Rectangle 6"/>
          <p:cNvSpPr/>
          <p:nvPr/>
        </p:nvSpPr>
        <p:spPr>
          <a:xfrm>
            <a:off x="6400800" y="1600200"/>
            <a:ext cx="5029200" cy="333756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737360"/>
            <a:ext cx="4663440" cy="3017520"/>
          </a:xfrm>
          <a:prstGeom prst="rect">
            <a:avLst/>
          </a:prstGeom>
          <a:noFill/>
        </p:spPr>
        <p:txBody>
          <a:bodyPr wrap="square">
            <a:spAutoFit/>
          </a:bodyPr>
          <a:lstStyle/>
          <a:p>
            <a:pPr>
              <a:spcAft>
                <a:spcPts val="1000"/>
              </a:spcAft>
              <a:defRPr sz="1200" b="1">
                <a:solidFill>
                  <a:srgbClr val="B91C1C"/>
                </a:solidFill>
              </a:defRPr>
            </a:pPr>
            <a:r>
              <a:t>BLIND GROUND-TRUTH DOMAIN (FIREWALLED)</a:t>
            </a:r>
          </a:p>
          <a:p>
            <a:pPr>
              <a:spcAft>
                <a:spcPts val="600"/>
              </a:spcAft>
              <a:defRPr sz="1050">
                <a:solidFill>
                  <a:srgbClr val="334155"/>
                </a:solidFill>
              </a:defRPr>
            </a:pPr>
            <a:r>
              <a:t>•  Official Tender BOQ: Schedule of Quantities used strictly for post-takeoff validation comparison.</a:t>
            </a:r>
          </a:p>
          <a:p>
            <a:pPr>
              <a:spcAft>
                <a:spcPts val="600"/>
              </a:spcAft>
              <a:defRPr sz="1050">
                <a:solidFill>
                  <a:srgbClr val="334155"/>
                </a:solidFill>
              </a:defRPr>
            </a:pPr>
            <a:r>
              <a:t>•  Priced Schedule of Rates (SOR): Item rate analysis and contractor financial bids.</a:t>
            </a:r>
          </a:p>
          <a:p>
            <a:pPr>
              <a:spcAft>
                <a:spcPts val="600"/>
              </a:spcAft>
              <a:defRPr sz="1050">
                <a:solidFill>
                  <a:srgbClr val="334155"/>
                </a:solidFill>
              </a:defRPr>
            </a:pPr>
            <a:r>
              <a:t>•  Approved CPM Schedule: Contractor project bar chart and baseline duration milestones.</a:t>
            </a:r>
          </a:p>
          <a:p>
            <a:pPr>
              <a:spcAft>
                <a:spcPts val="600"/>
              </a:spcAft>
              <a:defRPr sz="1050">
                <a:solidFill>
                  <a:srgbClr val="334155"/>
                </a:solidFill>
              </a:defRPr>
            </a:pPr>
            <a:r>
              <a:t>•  Single-Tower BOQ Note: Because RITES only issued an aggregate 8-tower BOQ, cost accuracy is not calculated.</a:t>
            </a:r>
          </a:p>
        </p:txBody>
      </p:sp>
      <p:sp>
        <p:nvSpPr>
          <p:cNvPr id="9" name="Rectangle 8"/>
          <p:cNvSpPr/>
          <p:nvPr/>
        </p:nvSpPr>
        <p:spPr>
          <a:xfrm>
            <a:off x="731520" y="5120640"/>
            <a:ext cx="10698480" cy="9601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32720" cy="822960"/>
          </a:xfrm>
          <a:prstGeom prst="rect">
            <a:avLst/>
          </a:prstGeom>
          <a:noFill/>
        </p:spPr>
        <p:txBody>
          <a:bodyPr wrap="square">
            <a:spAutoFit/>
          </a:bodyPr>
          <a:lstStyle/>
          <a:p>
            <a:pPr>
              <a:defRPr sz="1100" b="1">
                <a:solidFill>
                  <a:srgbClr val="0F2C59"/>
                </a:solidFill>
              </a:defRPr>
            </a:pPr>
            <a:r>
              <a:t>THE METHODOLOGICAL FIREWALL: PREVENTING DATA CONTAMINATION</a:t>
            </a:r>
          </a:p>
          <a:p>
            <a:pPr>
              <a:defRPr sz="1000">
                <a:solidFill>
                  <a:srgbClr val="334155"/>
                </a:solidFill>
              </a:defRPr>
            </a:pPr>
            <a:r>
              <a:t>To guarantee scientific rigor, predictive inputs are strictly separated from ground-truth validation targets. BOQ validation was not performed, and cost accuracy is not calculated because the official contract tender only provides an aggregate multi-building Schedule of Quantities.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Evidence-Control Methodology: The 9-Tier Provenance Hierarchy</a:t>
            </a:r>
          </a:p>
        </p:txBody>
      </p:sp>
      <p:sp>
        <p:nvSpPr>
          <p:cNvPr id="5" name="Rounded Rectangle 4"/>
          <p:cNvSpPr/>
          <p:nvPr/>
        </p:nvSpPr>
        <p:spPr>
          <a:xfrm>
            <a:off x="73152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Evidence Hierarchy &amp; Tagging</a:t>
            </a:r>
          </a:p>
          <a:p>
            <a:pPr>
              <a:spcAft>
                <a:spcPts val="200"/>
              </a:spcAft>
              <a:defRPr sz="1150" b="1">
                <a:solidFill>
                  <a:srgbClr val="0F2C59"/>
                </a:solidFill>
              </a:defRPr>
            </a:pPr>
            <a:r>
              <a:t>•  The 9-Tier Provenance Ladder</a:t>
            </a:r>
          </a:p>
          <a:p>
            <a:pPr>
              <a:spcAft>
                <a:spcPts val="800"/>
              </a:spcAft>
              <a:defRPr sz="1050">
                <a:solidFill>
                  <a:srgbClr val="334155"/>
                </a:solidFill>
              </a:defRPr>
            </a:pPr>
            <a:r>
              <a:t>    Every parameter carries an immutable evidence tag:</a:t>
            </a:r>
            <a:br/>
            <a:r>
              <a:t>  • Tier 1: DIRECT_SHEET_OBSERVATION (Printed text/callouts)</a:t>
            </a:r>
            <a:br/>
            <a:r>
              <a:t>  • Tier 2: DERIVED_FROM_ARCHITECTURAL_SECTION (Heights)</a:t>
            </a:r>
            <a:br/>
            <a:r>
              <a:t>  • Tier 3: DERIVED_BY_BASIC_GEOMETRY (L x B, perimeters)</a:t>
            </a:r>
            <a:br/>
            <a:r>
              <a:t>  • Tier 4: IS_CODE_DERIVED (45.3d rebar lap, cover)</a:t>
            </a:r>
            <a:br/>
            <a:r>
              <a:t>  • Tier 5: ENGINEERING_ASSUMPTION_STANDARDIZED (Medium)</a:t>
            </a:r>
          </a:p>
          <a:p>
            <a:pPr>
              <a:spcAft>
                <a:spcPts val="200"/>
              </a:spcAft>
              <a:defRPr sz="1150" b="1">
                <a:solidFill>
                  <a:srgbClr val="0F2C59"/>
                </a:solidFill>
              </a:defRPr>
            </a:pPr>
            <a:r>
              <a:t>•  Eradicating Over-Confident Assumptions</a:t>
            </a:r>
          </a:p>
          <a:p>
            <a:pPr>
              <a:spcAft>
                <a:spcPts val="800"/>
              </a:spcAft>
              <a:defRPr sz="1050">
                <a:solidFill>
                  <a:srgbClr val="334155"/>
                </a:solidFill>
              </a:defRPr>
            </a:pPr>
            <a:r>
              <a:t>    Under our project governance rules, zero assumptions are permitted to claim high confidence. All assumptions are capped at MEDIUM or ESTIMATED.</a:t>
            </a:r>
          </a:p>
        </p:txBody>
      </p:sp>
      <p:sp>
        <p:nvSpPr>
          <p:cNvPr id="7" name="Rounded Rectangle 6"/>
          <p:cNvSpPr/>
          <p:nvPr/>
        </p:nvSpPr>
        <p:spPr>
          <a:xfrm>
            <a:off x="630936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Governance &amp; Heuristic Purging</a:t>
            </a:r>
          </a:p>
          <a:p>
            <a:pPr>
              <a:spcAft>
                <a:spcPts val="200"/>
              </a:spcAft>
              <a:defRPr sz="1150" b="1">
                <a:solidFill>
                  <a:srgbClr val="0F2C59"/>
                </a:solidFill>
              </a:defRPr>
            </a:pPr>
            <a:r>
              <a:t>•  Purging Synthetic Heuristics</a:t>
            </a:r>
          </a:p>
          <a:p>
            <a:pPr>
              <a:spcAft>
                <a:spcPts val="800"/>
              </a:spcAft>
              <a:defRPr sz="1050">
                <a:solidFill>
                  <a:srgbClr val="334155"/>
                </a:solidFill>
              </a:defRPr>
            </a:pPr>
            <a:r>
              <a:t>    Legacy estimation rules-of-thumb—such as deducting a flat 23% for windows and 10% for doors—were audited, revoked, and replaced with exact scheduled opening marks.</a:t>
            </a:r>
          </a:p>
          <a:p>
            <a:pPr>
              <a:spcAft>
                <a:spcPts val="200"/>
              </a:spcAft>
              <a:defRPr sz="1150" b="1">
                <a:solidFill>
                  <a:srgbClr val="0F2C59"/>
                </a:solidFill>
              </a:defRPr>
            </a:pPr>
            <a:r>
              <a:t>•  Auditability Over Guesswork</a:t>
            </a:r>
          </a:p>
          <a:p>
            <a:pPr>
              <a:spcAft>
                <a:spcPts val="800"/>
              </a:spcAft>
              <a:defRPr sz="1050">
                <a:solidFill>
                  <a:srgbClr val="334155"/>
                </a:solidFill>
              </a:defRPr>
            </a:pPr>
            <a:r>
              <a:t>    If a dimension cannot be traced to a specific drawing callout or verified section, it cannot enter the formula calculation stream.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System Architecture: 11-Stage Pipeline from Ingestion to Refusal</a:t>
            </a:r>
          </a:p>
        </p:txBody>
      </p:sp>
      <p:sp>
        <p:nvSpPr>
          <p:cNvPr id="5" name="Rounded Rectangle 4"/>
          <p:cNvSpPr/>
          <p:nvPr/>
        </p:nvSpPr>
        <p:spPr>
          <a:xfrm>
            <a:off x="731520" y="1600200"/>
            <a:ext cx="1965960" cy="3200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37360"/>
            <a:ext cx="1746504" cy="2926080"/>
          </a:xfrm>
          <a:prstGeom prst="rect">
            <a:avLst/>
          </a:prstGeom>
          <a:noFill/>
        </p:spPr>
        <p:txBody>
          <a:bodyPr wrap="square" lIns="0" tIns="0" rIns="0" bIns="0">
            <a:spAutoFit/>
          </a:bodyPr>
          <a:lstStyle/>
          <a:p>
            <a:pPr>
              <a:spcAft>
                <a:spcPts val="600"/>
              </a:spcAft>
              <a:defRPr sz="1000" b="1">
                <a:solidFill>
                  <a:srgbClr val="2B6CB0"/>
                </a:solidFill>
              </a:defRPr>
            </a:pPr>
            <a:r>
              <a:t>Phases 0-2</a:t>
            </a:r>
          </a:p>
          <a:p>
            <a:pPr>
              <a:spcAft>
                <a:spcPts val="1000"/>
              </a:spcAft>
              <a:defRPr sz="1100" b="1">
                <a:solidFill>
                  <a:srgbClr val="0F2C59"/>
                </a:solidFill>
              </a:defRPr>
            </a:pPr>
            <a:r>
              <a:t>INGESTION &amp; AUDIT</a:t>
            </a:r>
          </a:p>
          <a:p>
            <a:pPr>
              <a:defRPr sz="1000">
                <a:solidFill>
                  <a:srgbClr val="334155"/>
                </a:solidFill>
              </a:defRPr>
            </a:pPr>
            <a:r>
              <a:t>Tender PDFs, Registers &amp; Sheet Legibility Audits</a:t>
            </a:r>
          </a:p>
        </p:txBody>
      </p:sp>
      <p:sp>
        <p:nvSpPr>
          <p:cNvPr id="7" name="Rounded Rectangle 6"/>
          <p:cNvSpPr/>
          <p:nvPr/>
        </p:nvSpPr>
        <p:spPr>
          <a:xfrm>
            <a:off x="2916936" y="1600200"/>
            <a:ext cx="1965960" cy="3200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26664" y="1737360"/>
            <a:ext cx="1746504" cy="2926080"/>
          </a:xfrm>
          <a:prstGeom prst="rect">
            <a:avLst/>
          </a:prstGeom>
          <a:noFill/>
        </p:spPr>
        <p:txBody>
          <a:bodyPr wrap="square" lIns="0" tIns="0" rIns="0" bIns="0">
            <a:spAutoFit/>
          </a:bodyPr>
          <a:lstStyle/>
          <a:p>
            <a:pPr>
              <a:spcAft>
                <a:spcPts val="600"/>
              </a:spcAft>
              <a:defRPr sz="1000" b="1">
                <a:solidFill>
                  <a:srgbClr val="2B6CB0"/>
                </a:solidFill>
              </a:defRPr>
            </a:pPr>
            <a:r>
              <a:t>Phases 3-5</a:t>
            </a:r>
          </a:p>
          <a:p>
            <a:pPr>
              <a:spcAft>
                <a:spcPts val="1000"/>
              </a:spcAft>
              <a:defRPr sz="1100" b="1">
                <a:solidFill>
                  <a:srgbClr val="0F2C59"/>
                </a:solidFill>
              </a:defRPr>
            </a:pPr>
            <a:r>
              <a:t>CONTROLLED TRANSCRIPTION</a:t>
            </a:r>
          </a:p>
          <a:p>
            <a:pPr>
              <a:defRPr sz="1000">
                <a:solidFill>
                  <a:srgbClr val="334155"/>
                </a:solidFill>
              </a:defRPr>
            </a:pPr>
            <a:r>
              <a:t>Priority A (Foundation), B (Frame), C (Architecture)</a:t>
            </a:r>
          </a:p>
        </p:txBody>
      </p:sp>
      <p:sp>
        <p:nvSpPr>
          <p:cNvPr id="9" name="Rounded Rectangle 8"/>
          <p:cNvSpPr/>
          <p:nvPr/>
        </p:nvSpPr>
        <p:spPr>
          <a:xfrm>
            <a:off x="5102352" y="1600200"/>
            <a:ext cx="1965960" cy="3200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737360"/>
            <a:ext cx="1746504" cy="2926080"/>
          </a:xfrm>
          <a:prstGeom prst="rect">
            <a:avLst/>
          </a:prstGeom>
          <a:noFill/>
        </p:spPr>
        <p:txBody>
          <a:bodyPr wrap="square" lIns="0" tIns="0" rIns="0" bIns="0">
            <a:spAutoFit/>
          </a:bodyPr>
          <a:lstStyle/>
          <a:p>
            <a:pPr>
              <a:spcAft>
                <a:spcPts val="600"/>
              </a:spcAft>
              <a:defRPr sz="1000" b="1">
                <a:solidFill>
                  <a:srgbClr val="2B6CB0"/>
                </a:solidFill>
              </a:defRPr>
            </a:pPr>
            <a:r>
              <a:t>Phase 6</a:t>
            </a:r>
          </a:p>
          <a:p>
            <a:pPr>
              <a:spcAft>
                <a:spcPts val="1000"/>
              </a:spcAft>
              <a:defRPr sz="1100" b="1">
                <a:solidFill>
                  <a:srgbClr val="0F2C59"/>
                </a:solidFill>
              </a:defRPr>
            </a:pPr>
            <a:r>
              <a:t>CIVIL RECONCILIATION</a:t>
            </a:r>
          </a:p>
          <a:p>
            <a:pPr>
              <a:defRPr sz="1000">
                <a:solidFill>
                  <a:srgbClr val="334155"/>
                </a:solidFill>
              </a:defRPr>
            </a:pPr>
            <a:r>
              <a:t>Priority D: Multi-discipline level &amp; boundary matrix</a:t>
            </a:r>
          </a:p>
        </p:txBody>
      </p:sp>
      <p:sp>
        <p:nvSpPr>
          <p:cNvPr id="11" name="Rounded Rectangle 10"/>
          <p:cNvSpPr/>
          <p:nvPr/>
        </p:nvSpPr>
        <p:spPr>
          <a:xfrm>
            <a:off x="7287768" y="1600200"/>
            <a:ext cx="1965960" cy="3200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737360"/>
            <a:ext cx="1746504" cy="2926080"/>
          </a:xfrm>
          <a:prstGeom prst="rect">
            <a:avLst/>
          </a:prstGeom>
          <a:noFill/>
        </p:spPr>
        <p:txBody>
          <a:bodyPr wrap="square" lIns="0" tIns="0" rIns="0" bIns="0">
            <a:spAutoFit/>
          </a:bodyPr>
          <a:lstStyle/>
          <a:p>
            <a:pPr>
              <a:spcAft>
                <a:spcPts val="600"/>
              </a:spcAft>
              <a:defRPr sz="1000" b="1">
                <a:solidFill>
                  <a:srgbClr val="2B6CB0"/>
                </a:solidFill>
              </a:defRPr>
            </a:pPr>
            <a:r>
              <a:t>Phase 7</a:t>
            </a:r>
          </a:p>
          <a:p>
            <a:pPr>
              <a:spcAft>
                <a:spcPts val="1000"/>
              </a:spcAft>
              <a:defRPr sz="1100" b="1">
                <a:solidFill>
                  <a:srgbClr val="0F2C59"/>
                </a:solidFill>
              </a:defRPr>
            </a:pPr>
            <a:r>
              <a:t>FORMULA MAPPING</a:t>
            </a:r>
          </a:p>
          <a:p>
            <a:pPr>
              <a:defRPr sz="1000">
                <a:solidFill>
                  <a:srgbClr val="334155"/>
                </a:solidFill>
              </a:defRPr>
            </a:pPr>
            <a:r>
              <a:t>Priority E: IS 1200 formulas linked to input dependencies</a:t>
            </a:r>
          </a:p>
        </p:txBody>
      </p:sp>
      <p:sp>
        <p:nvSpPr>
          <p:cNvPr id="13" name="Rounded Rectangle 12"/>
          <p:cNvSpPr/>
          <p:nvPr/>
        </p:nvSpPr>
        <p:spPr>
          <a:xfrm>
            <a:off x="9473184" y="1600200"/>
            <a:ext cx="1965960" cy="320040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82912" y="1737360"/>
            <a:ext cx="1746504" cy="2926080"/>
          </a:xfrm>
          <a:prstGeom prst="rect">
            <a:avLst/>
          </a:prstGeom>
          <a:noFill/>
        </p:spPr>
        <p:txBody>
          <a:bodyPr wrap="square" lIns="0" tIns="0" rIns="0" bIns="0">
            <a:spAutoFit/>
          </a:bodyPr>
          <a:lstStyle/>
          <a:p>
            <a:pPr>
              <a:spcAft>
                <a:spcPts val="600"/>
              </a:spcAft>
              <a:defRPr sz="1000" b="1">
                <a:solidFill>
                  <a:srgbClr val="B91C1C"/>
                </a:solidFill>
              </a:defRPr>
            </a:pPr>
            <a:r>
              <a:t>Phase 8</a:t>
            </a:r>
          </a:p>
          <a:p>
            <a:pPr>
              <a:spcAft>
                <a:spcPts val="1000"/>
              </a:spcAft>
              <a:defRPr sz="1100" b="1">
                <a:solidFill>
                  <a:srgbClr val="0F2C59"/>
                </a:solidFill>
              </a:defRPr>
            </a:pPr>
            <a:r>
              <a:t>REFUSAL GUARDRAIL</a:t>
            </a:r>
          </a:p>
          <a:p>
            <a:pPr>
              <a:defRPr sz="1000">
                <a:solidFill>
                  <a:srgbClr val="334155"/>
                </a:solidFill>
              </a:defRPr>
            </a:pPr>
            <a:r>
              <a:t>Priority F: Sample takeoff executed; unsafe takeoff blocked</a:t>
            </a:r>
          </a:p>
        </p:txBody>
      </p:sp>
      <p:sp>
        <p:nvSpPr>
          <p:cNvPr id="15" name="Rectangle 14"/>
          <p:cNvSpPr/>
          <p:nvPr/>
        </p:nvSpPr>
        <p:spPr>
          <a:xfrm>
            <a:off x="731520" y="5029200"/>
            <a:ext cx="10698480" cy="1051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20640"/>
            <a:ext cx="10332720" cy="868680"/>
          </a:xfrm>
          <a:prstGeom prst="rect">
            <a:avLst/>
          </a:prstGeom>
          <a:noFill/>
        </p:spPr>
        <p:txBody>
          <a:bodyPr wrap="square">
            <a:spAutoFit/>
          </a:bodyPr>
          <a:lstStyle/>
          <a:p>
            <a:pPr>
              <a:defRPr sz="1100" b="1">
                <a:solidFill>
                  <a:srgbClr val="0F2C59"/>
                </a:solidFill>
              </a:defRPr>
            </a:pPr>
            <a:r>
              <a:t>CORE PIPELINE PRINCIPLE: MODULAR DECOUPLING OF TRANSCRIPTION AND FORMULAS</a:t>
            </a:r>
          </a:p>
          <a:p>
            <a:pPr>
              <a:defRPr sz="1000">
                <a:solidFill>
                  <a:srgbClr val="334155"/>
                </a:solidFill>
              </a:defRPr>
            </a:pPr>
            <a:r>
              <a:t>The pipeline decouples raw drawing extraction from mathematical evaluation. Ingestion transcribes entities into relational registers; reconciliation resolves inter-trade clashes; formula dependency checks halt execution if inputs are missing. Full takeoff remains blocked where evidence is missing.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Controlled Transcription &amp; Civil Cross-Register Reconciliation</a:t>
            </a:r>
          </a:p>
        </p:txBody>
      </p:sp>
      <p:sp>
        <p:nvSpPr>
          <p:cNvPr id="5" name="Rounded Rectangle 4"/>
          <p:cNvSpPr/>
          <p:nvPr/>
        </p:nvSpPr>
        <p:spPr>
          <a:xfrm>
            <a:off x="731520" y="1600200"/>
            <a:ext cx="3291840" cy="44805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2926080" cy="4206240"/>
          </a:xfrm>
          <a:prstGeom prst="rect">
            <a:avLst/>
          </a:prstGeom>
          <a:noFill/>
        </p:spPr>
        <p:txBody>
          <a:bodyPr wrap="square">
            <a:spAutoFit/>
          </a:bodyPr>
          <a:lstStyle/>
          <a:p>
            <a:pPr>
              <a:spcAft>
                <a:spcPts val="800"/>
              </a:spcAft>
              <a:defRPr sz="1200" b="1">
                <a:solidFill>
                  <a:srgbClr val="0F2C59"/>
                </a:solidFill>
              </a:defRPr>
            </a:pPr>
            <a:r>
              <a:t>ARCHITECTURAL REGISTERS</a:t>
            </a:r>
          </a:p>
          <a:p>
            <a:pPr>
              <a:defRPr sz="1050" b="1">
                <a:solidFill>
                  <a:srgbClr val="2B6CB0"/>
                </a:solidFill>
              </a:defRPr>
            </a:pPr>
            <a:r>
              <a:t>•  controlled_opening_register.csv</a:t>
            </a:r>
          </a:p>
          <a:p>
            <a:pPr>
              <a:spcAft>
                <a:spcPts val="400"/>
              </a:spcAft>
              <a:defRPr sz="950">
                <a:solidFill>
                  <a:srgbClr val="334155"/>
                </a:solidFill>
              </a:defRPr>
            </a:pPr>
            <a:r>
              <a:t>    10 scheduled door/window types (D1-D3, W1-W4, DW1, V1-V2, SD1-SD4) with width and height callouts.</a:t>
            </a:r>
          </a:p>
          <a:p>
            <a:pPr>
              <a:defRPr sz="1050" b="1">
                <a:solidFill>
                  <a:srgbClr val="2B6CB0"/>
                </a:solidFill>
              </a:defRPr>
            </a:pPr>
            <a:r>
              <a:t>•  controlled_room_register.csv</a:t>
            </a:r>
          </a:p>
          <a:p>
            <a:pPr>
              <a:spcAft>
                <a:spcPts val="400"/>
              </a:spcAft>
              <a:defRPr sz="950">
                <a:solidFill>
                  <a:srgbClr val="334155"/>
                </a:solidFill>
              </a:defRPr>
            </a:pPr>
            <a:r>
              <a:t>    5 room archetypes across 4 flats per typical floor with clear length and width dimensions.</a:t>
            </a:r>
          </a:p>
          <a:p>
            <a:pPr>
              <a:defRPr sz="1050" b="1">
                <a:solidFill>
                  <a:srgbClr val="2B6CB0"/>
                </a:solidFill>
              </a:defRPr>
            </a:pPr>
            <a:r>
              <a:t>•  controlled_finish_register.csv</a:t>
            </a:r>
          </a:p>
          <a:p>
            <a:pPr>
              <a:spcAft>
                <a:spcPts val="400"/>
              </a:spcAft>
              <a:defRPr sz="950">
                <a:solidFill>
                  <a:srgbClr val="334155"/>
                </a:solidFill>
              </a:defRPr>
            </a:pPr>
            <a:r>
              <a:t>    Flooring, skirting, internal 12mm plaster, and external 18mm waterproof plaster specs.</a:t>
            </a:r>
          </a:p>
          <a:p>
            <a:pPr>
              <a:defRPr sz="1050" b="1">
                <a:solidFill>
                  <a:srgbClr val="2B6CB0"/>
                </a:solidFill>
              </a:defRPr>
            </a:pPr>
            <a:r>
              <a:t>•  controlled_masonry_deduction_register.csv</a:t>
            </a:r>
          </a:p>
          <a:p>
            <a:pPr>
              <a:spcAft>
                <a:spcPts val="400"/>
              </a:spcAft>
              <a:defRPr sz="950">
                <a:solidFill>
                  <a:srgbClr val="334155"/>
                </a:solidFill>
              </a:defRPr>
            </a:pPr>
            <a:r>
              <a:t>    Deductions mapped to scheduled opening marks.</a:t>
            </a:r>
          </a:p>
        </p:txBody>
      </p:sp>
      <p:sp>
        <p:nvSpPr>
          <p:cNvPr id="7" name="Rounded Rectangle 6"/>
          <p:cNvSpPr/>
          <p:nvPr/>
        </p:nvSpPr>
        <p:spPr>
          <a:xfrm>
            <a:off x="4389120" y="1600200"/>
            <a:ext cx="3291840" cy="44805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2926080" cy="4206240"/>
          </a:xfrm>
          <a:prstGeom prst="rect">
            <a:avLst/>
          </a:prstGeom>
          <a:noFill/>
        </p:spPr>
        <p:txBody>
          <a:bodyPr wrap="square">
            <a:spAutoFit/>
          </a:bodyPr>
          <a:lstStyle/>
          <a:p>
            <a:pPr>
              <a:spcAft>
                <a:spcPts val="800"/>
              </a:spcAft>
              <a:defRPr sz="1200" b="1">
                <a:solidFill>
                  <a:srgbClr val="0F2C59"/>
                </a:solidFill>
              </a:defRPr>
            </a:pPr>
            <a:r>
              <a:t>STRUCTURAL REGISTERS</a:t>
            </a:r>
          </a:p>
          <a:p>
            <a:pPr>
              <a:defRPr sz="1050" b="1">
                <a:solidFill>
                  <a:srgbClr val="2B6CB0"/>
                </a:solidFill>
              </a:defRPr>
            </a:pPr>
            <a:r>
              <a:t>•  controlled_foundation_register.csv</a:t>
            </a:r>
          </a:p>
          <a:p>
            <a:pPr>
              <a:spcAft>
                <a:spcPts val="400"/>
              </a:spcAft>
              <a:defRPr sz="950">
                <a:solidFill>
                  <a:srgbClr val="334155"/>
                </a:solidFill>
              </a:defRPr>
            </a:pPr>
            <a:r>
              <a:t>    207 bored cast-in-situ piles (600mm dia) and 84 scheduled pile caps with grid locations.</a:t>
            </a:r>
          </a:p>
          <a:p>
            <a:pPr>
              <a:defRPr sz="1050" b="1">
                <a:solidFill>
                  <a:srgbClr val="2B6CB0"/>
                </a:solidFill>
              </a:defRPr>
            </a:pPr>
            <a:r>
              <a:t>•  controlled_column_wall_register.csv</a:t>
            </a:r>
          </a:p>
          <a:p>
            <a:pPr>
              <a:spcAft>
                <a:spcPts val="400"/>
              </a:spcAft>
              <a:defRPr sz="950">
                <a:solidFill>
                  <a:srgbClr val="334155"/>
                </a:solidFill>
              </a:defRPr>
            </a:pPr>
            <a:r>
              <a:t>    49 vertical members (16 columns C1-C3, 33 shear walls SW1-SW10) with main bar marks.</a:t>
            </a:r>
          </a:p>
          <a:p>
            <a:pPr>
              <a:defRPr sz="1050" b="1">
                <a:solidFill>
                  <a:srgbClr val="2B6CB0"/>
                </a:solidFill>
              </a:defRPr>
            </a:pPr>
            <a:r>
              <a:t>•  controlled_beam_register.csv</a:t>
            </a:r>
          </a:p>
          <a:p>
            <a:pPr>
              <a:spcAft>
                <a:spcPts val="400"/>
              </a:spcAft>
              <a:defRPr sz="950">
                <a:solidFill>
                  <a:srgbClr val="334155"/>
                </a:solidFill>
              </a:defRPr>
            </a:pPr>
            <a:r>
              <a:t>    34 framing beams per floor (PB1-PB34, B1-B34) with longitudinal and shear reinforcement.</a:t>
            </a:r>
          </a:p>
          <a:p>
            <a:pPr>
              <a:defRPr sz="1050" b="1">
                <a:solidFill>
                  <a:srgbClr val="2B6CB0"/>
                </a:solidFill>
              </a:defRPr>
            </a:pPr>
            <a:r>
              <a:t>•  controlled_slab_stair_register.csv</a:t>
            </a:r>
          </a:p>
          <a:p>
            <a:pPr>
              <a:spcAft>
                <a:spcPts val="400"/>
              </a:spcAft>
              <a:defRPr sz="950">
                <a:solidFill>
                  <a:srgbClr val="334155"/>
                </a:solidFill>
              </a:defRPr>
            </a:pPr>
            <a:r>
              <a:t>    125mm suspended slabs S1-S2, 150mm stair waist slab.</a:t>
            </a:r>
          </a:p>
        </p:txBody>
      </p:sp>
      <p:sp>
        <p:nvSpPr>
          <p:cNvPr id="9" name="Rounded Rectangle 8"/>
          <p:cNvSpPr/>
          <p:nvPr/>
        </p:nvSpPr>
        <p:spPr>
          <a:xfrm>
            <a:off x="8046720" y="1600200"/>
            <a:ext cx="3383280" cy="4480560"/>
          </a:xfrm>
          <a:prstGeom prst="roundRect">
            <a:avLst/>
          </a:prstGeom>
          <a:solidFill>
            <a:srgbClr val="F0FDF4"/>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17520" cy="4206240"/>
          </a:xfrm>
          <a:prstGeom prst="rect">
            <a:avLst/>
          </a:prstGeom>
          <a:noFill/>
        </p:spPr>
        <p:txBody>
          <a:bodyPr wrap="square">
            <a:spAutoFit/>
          </a:bodyPr>
          <a:lstStyle/>
          <a:p>
            <a:pPr>
              <a:spcAft>
                <a:spcPts val="800"/>
              </a:spcAft>
              <a:defRPr sz="1200" b="1">
                <a:solidFill>
                  <a:srgbClr val="166534"/>
                </a:solidFill>
              </a:defRPr>
            </a:pPr>
            <a:r>
              <a:t>CIVIL RECONCILIATION LAYER</a:t>
            </a:r>
          </a:p>
          <a:p>
            <a:pPr>
              <a:defRPr sz="1050" b="1">
                <a:solidFill>
                  <a:srgbClr val="166534"/>
                </a:solidFill>
              </a:defRPr>
            </a:pPr>
            <a:r>
              <a:t>•  floor_scope_reconciliation.csv</a:t>
            </a:r>
          </a:p>
          <a:p>
            <a:pPr>
              <a:spcAft>
                <a:spcPts val="400"/>
              </a:spcAft>
              <a:defRPr sz="950">
                <a:solidFill>
                  <a:srgbClr val="334155"/>
                </a:solidFill>
              </a:defRPr>
            </a:pPr>
            <a:r>
              <a:t>    Reconciled 9 vertical building datums from Stilt (+0.00m) to Mumty (+24.00m).</a:t>
            </a:r>
          </a:p>
          <a:p>
            <a:pPr>
              <a:defRPr sz="1050" b="1">
                <a:solidFill>
                  <a:srgbClr val="166534"/>
                </a:solidFill>
              </a:defRPr>
            </a:pPr>
            <a:r>
              <a:t>•  Height Derivation Resolution</a:t>
            </a:r>
          </a:p>
          <a:p>
            <a:pPr>
              <a:spcAft>
                <a:spcPts val="400"/>
              </a:spcAft>
              <a:defRPr sz="950">
                <a:solidFill>
                  <a:srgbClr val="334155"/>
                </a:solidFill>
              </a:defRPr>
            </a:pPr>
            <a:r>
              <a:t>    Proved column heights derive from Architectural Section A-A (3050mm), not structural schedules.</a:t>
            </a:r>
          </a:p>
          <a:p>
            <a:pPr>
              <a:defRPr sz="1050" b="1">
                <a:solidFill>
                  <a:srgbClr val="166534"/>
                </a:solidFill>
              </a:defRPr>
            </a:pPr>
            <a:r>
              <a:t>•  wall_takeoff_reconciliation_matrix.csv</a:t>
            </a:r>
          </a:p>
          <a:p>
            <a:pPr>
              <a:spcAft>
                <a:spcPts val="400"/>
              </a:spcAft>
              <a:defRPr sz="950">
                <a:solidFill>
                  <a:srgbClr val="334155"/>
                </a:solidFill>
              </a:defRPr>
            </a:pPr>
            <a:r>
              <a:t>    Resolves masonry deduction boundaries: masonry spans deduct framing columns and beam soffits.</a:t>
            </a:r>
          </a:p>
          <a:p>
            <a:pPr>
              <a:defRPr sz="1050" b="1">
                <a:solidFill>
                  <a:srgbClr val="166534"/>
                </a:solidFill>
              </a:defRPr>
            </a:pPr>
            <a:r>
              <a:t>•  structural_architecture_conflict_log.csv</a:t>
            </a:r>
          </a:p>
          <a:p>
            <a:pPr>
              <a:spcAft>
                <a:spcPts val="400"/>
              </a:spcAft>
              <a:defRPr sz="950">
                <a:solidFill>
                  <a:srgbClr val="334155"/>
                </a:solidFill>
              </a:defRPr>
            </a:pPr>
            <a:r>
              <a:t>    Flags 54 vs 84 pile cap conflict and unsegregated wall centerlines.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Formula Setup &amp; Engineered Refusal: Safe Blocking on Missing Evidence</a:t>
            </a:r>
          </a:p>
        </p:txBody>
      </p:sp>
      <p:sp>
        <p:nvSpPr>
          <p:cNvPr id="5" name="Rounded Rectangle 4"/>
          <p:cNvSpPr/>
          <p:nvPr/>
        </p:nvSpPr>
        <p:spPr>
          <a:xfrm>
            <a:off x="731520" y="1600200"/>
            <a:ext cx="2423160" cy="2057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48840" cy="1783080"/>
          </a:xfrm>
          <a:prstGeom prst="rect">
            <a:avLst/>
          </a:prstGeom>
          <a:noFill/>
        </p:spPr>
        <p:txBody>
          <a:bodyPr wrap="square">
            <a:spAutoFit/>
          </a:bodyPr>
          <a:lstStyle/>
          <a:p>
            <a:pPr>
              <a:spcAft>
                <a:spcPts val="600"/>
              </a:spcAft>
              <a:defRPr sz="1000" b="1">
                <a:solidFill>
                  <a:srgbClr val="0F2C59"/>
                </a:solidFill>
              </a:defRPr>
            </a:pPr>
            <a:r>
              <a:t>STEP 1: IS 1200 FORMULA DEFINITION</a:t>
            </a:r>
          </a:p>
          <a:p>
            <a:pPr>
              <a:defRPr sz="950">
                <a:solidFill>
                  <a:srgbClr val="334155"/>
                </a:solidFill>
              </a:defRPr>
            </a:pPr>
            <a:r>
              <a:t>14 standardized civil formulas mapped for concrete, rebar, masonry, and finishes.</a:t>
            </a:r>
          </a:p>
        </p:txBody>
      </p:sp>
      <p:sp>
        <p:nvSpPr>
          <p:cNvPr id="7" name="Rounded Rectangle 6"/>
          <p:cNvSpPr/>
          <p:nvPr/>
        </p:nvSpPr>
        <p:spPr>
          <a:xfrm>
            <a:off x="3474720" y="1600200"/>
            <a:ext cx="2423160" cy="205740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37360"/>
            <a:ext cx="2148840" cy="1783080"/>
          </a:xfrm>
          <a:prstGeom prst="rect">
            <a:avLst/>
          </a:prstGeom>
          <a:noFill/>
        </p:spPr>
        <p:txBody>
          <a:bodyPr wrap="square">
            <a:spAutoFit/>
          </a:bodyPr>
          <a:lstStyle/>
          <a:p>
            <a:pPr>
              <a:spcAft>
                <a:spcPts val="600"/>
              </a:spcAft>
              <a:defRPr sz="1000" b="1">
                <a:solidFill>
                  <a:srgbClr val="0F2C59"/>
                </a:solidFill>
              </a:defRPr>
            </a:pPr>
            <a:r>
              <a:t>STEP 2: INPUT DEPENDENCY CHECK</a:t>
            </a:r>
          </a:p>
          <a:p>
            <a:pPr>
              <a:defRPr sz="950">
                <a:solidFill>
                  <a:srgbClr val="334155"/>
                </a:solidFill>
              </a:defRPr>
            </a:pPr>
            <a:r>
              <a:t>Verify if L, B, H, deduction boundaries, and schedules are 100% complete.</a:t>
            </a:r>
          </a:p>
        </p:txBody>
      </p:sp>
      <p:sp>
        <p:nvSpPr>
          <p:cNvPr id="9" name="Rounded Rectangle 8"/>
          <p:cNvSpPr/>
          <p:nvPr/>
        </p:nvSpPr>
        <p:spPr>
          <a:xfrm>
            <a:off x="6217920" y="1600200"/>
            <a:ext cx="2423160" cy="205740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37360"/>
            <a:ext cx="2148840" cy="1783080"/>
          </a:xfrm>
          <a:prstGeom prst="rect">
            <a:avLst/>
          </a:prstGeom>
          <a:noFill/>
        </p:spPr>
        <p:txBody>
          <a:bodyPr wrap="square">
            <a:spAutoFit/>
          </a:bodyPr>
          <a:lstStyle/>
          <a:p>
            <a:pPr>
              <a:spcAft>
                <a:spcPts val="600"/>
              </a:spcAft>
              <a:defRPr sz="1000" b="1">
                <a:solidFill>
                  <a:srgbClr val="B91C1C"/>
                </a:solidFill>
              </a:defRPr>
            </a:pPr>
            <a:r>
              <a:t>STEP 3: GUARDRAIL INTERCEPTION</a:t>
            </a:r>
          </a:p>
          <a:p>
            <a:pPr>
              <a:defRPr sz="950">
                <a:solidFill>
                  <a:srgbClr val="334155"/>
                </a:solidFill>
              </a:defRPr>
            </a:pPr>
            <a:r>
              <a:t>If any prerequisite input is missing or conflicting, execution is blocked immediately.</a:t>
            </a:r>
          </a:p>
        </p:txBody>
      </p:sp>
      <p:sp>
        <p:nvSpPr>
          <p:cNvPr id="11" name="Rounded Rectangle 10"/>
          <p:cNvSpPr/>
          <p:nvPr/>
        </p:nvSpPr>
        <p:spPr>
          <a:xfrm>
            <a:off x="8961120" y="1600200"/>
            <a:ext cx="2423160" cy="205740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737360"/>
            <a:ext cx="2148840" cy="1783080"/>
          </a:xfrm>
          <a:prstGeom prst="rect">
            <a:avLst/>
          </a:prstGeom>
          <a:noFill/>
        </p:spPr>
        <p:txBody>
          <a:bodyPr wrap="square">
            <a:spAutoFit/>
          </a:bodyPr>
          <a:lstStyle/>
          <a:p>
            <a:pPr>
              <a:spcAft>
                <a:spcPts val="600"/>
              </a:spcAft>
              <a:defRPr sz="1000" b="1">
                <a:solidFill>
                  <a:srgbClr val="B91C1C"/>
                </a:solidFill>
              </a:defRPr>
            </a:pPr>
            <a:r>
              <a:t>STEP 4: AUDITABLE REFUSAL LOG</a:t>
            </a:r>
          </a:p>
          <a:p>
            <a:pPr>
              <a:defRPr sz="950">
                <a:solidFill>
                  <a:srgbClr val="334155"/>
                </a:solidFill>
              </a:defRPr>
            </a:pPr>
            <a:r>
              <a:t>Generates formal Request for Information (RFI) rather than fabricating numbers.</a:t>
            </a:r>
          </a:p>
        </p:txBody>
      </p:sp>
      <p:sp>
        <p:nvSpPr>
          <p:cNvPr id="13" name="Rounded Rectangle 12"/>
          <p:cNvSpPr/>
          <p:nvPr/>
        </p:nvSpPr>
        <p:spPr>
          <a:xfrm>
            <a:off x="731520" y="3931920"/>
            <a:ext cx="5120640" cy="21488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114800"/>
            <a:ext cx="4663440" cy="1783080"/>
          </a:xfrm>
          <a:prstGeom prst="rect">
            <a:avLst/>
          </a:prstGeom>
          <a:noFill/>
        </p:spPr>
        <p:txBody>
          <a:bodyPr wrap="square" lIns="0" tIns="0" rIns="0" bIns="0">
            <a:spAutoFit/>
          </a:bodyPr>
          <a:lstStyle/>
          <a:p>
            <a:pPr>
              <a:spcAft>
                <a:spcPts val="1000"/>
              </a:spcAft>
              <a:defRPr sz="1350" b="1">
                <a:solidFill>
                  <a:srgbClr val="0F2C59"/>
                </a:solidFill>
              </a:defRPr>
            </a:pPr>
            <a:r>
              <a:t>Formula Architecture Conforming to IS 1200</a:t>
            </a:r>
          </a:p>
          <a:p>
            <a:pPr>
              <a:spcAft>
                <a:spcPts val="200"/>
              </a:spcAft>
              <a:defRPr sz="1150" b="1">
                <a:solidFill>
                  <a:srgbClr val="0F2C59"/>
                </a:solidFill>
              </a:defRPr>
            </a:pPr>
            <a:r>
              <a:t>•  Deterministic Dependency Mapping</a:t>
            </a:r>
          </a:p>
          <a:p>
            <a:pPr>
              <a:spcAft>
                <a:spcPts val="800"/>
              </a:spcAft>
              <a:defRPr sz="1050">
                <a:solidFill>
                  <a:srgbClr val="334155"/>
                </a:solidFill>
              </a:defRPr>
            </a:pPr>
            <a:r>
              <a:t>    Formulas mapped in priority_e_formula_setup link operands directly to registered drawing fields.</a:t>
            </a:r>
          </a:p>
          <a:p>
            <a:pPr>
              <a:spcAft>
                <a:spcPts val="200"/>
              </a:spcAft>
              <a:defRPr sz="1150" b="1">
                <a:solidFill>
                  <a:srgbClr val="0F2C59"/>
                </a:solidFill>
              </a:defRPr>
            </a:pPr>
            <a:r>
              <a:t>•  Strict Execution Lock</a:t>
            </a:r>
          </a:p>
          <a:p>
            <a:pPr>
              <a:spcAft>
                <a:spcPts val="800"/>
              </a:spcAft>
              <a:defRPr sz="1050">
                <a:solidFill>
                  <a:srgbClr val="334155"/>
                </a:solidFill>
              </a:defRPr>
            </a:pPr>
            <a:r>
              <a:t>    All bulk quantity formulas are set to INPUTS_BLOCKED until drawing schedules are complete.</a:t>
            </a:r>
          </a:p>
        </p:txBody>
      </p:sp>
      <p:sp>
        <p:nvSpPr>
          <p:cNvPr id="15" name="Rounded Rectangle 14"/>
          <p:cNvSpPr/>
          <p:nvPr/>
        </p:nvSpPr>
        <p:spPr>
          <a:xfrm>
            <a:off x="6309360" y="3931920"/>
            <a:ext cx="5120640" cy="21488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114800"/>
            <a:ext cx="4663440" cy="1783080"/>
          </a:xfrm>
          <a:prstGeom prst="rect">
            <a:avLst/>
          </a:prstGeom>
          <a:noFill/>
        </p:spPr>
        <p:txBody>
          <a:bodyPr wrap="square" lIns="0" tIns="0" rIns="0" bIns="0">
            <a:spAutoFit/>
          </a:bodyPr>
          <a:lstStyle/>
          <a:p>
            <a:pPr>
              <a:spcAft>
                <a:spcPts val="1000"/>
              </a:spcAft>
              <a:defRPr sz="1350" b="1">
                <a:solidFill>
                  <a:srgbClr val="0F2C59"/>
                </a:solidFill>
              </a:defRPr>
            </a:pPr>
            <a:r>
              <a:t>Engineering Rationale: Refusal as a Safety Feature</a:t>
            </a:r>
          </a:p>
          <a:p>
            <a:pPr>
              <a:spcAft>
                <a:spcPts val="200"/>
              </a:spcAft>
              <a:defRPr sz="1150" b="1">
                <a:solidFill>
                  <a:srgbClr val="0F2C59"/>
                </a:solidFill>
              </a:defRPr>
            </a:pPr>
            <a:r>
              <a:t>•  Safe Blocking on Missing Evidence</a:t>
            </a:r>
          </a:p>
          <a:p>
            <a:pPr>
              <a:spcAft>
                <a:spcPts val="800"/>
              </a:spcAft>
              <a:defRPr sz="1050">
                <a:solidFill>
                  <a:srgbClr val="334155"/>
                </a:solidFill>
              </a:defRPr>
            </a:pPr>
            <a:r>
              <a:t>    In civil engineering contracts, halting execution when data is omitted protects against litigation and claims.</a:t>
            </a:r>
          </a:p>
          <a:p>
            <a:pPr>
              <a:spcAft>
                <a:spcPts val="200"/>
              </a:spcAft>
              <a:defRPr sz="1150" b="1">
                <a:solidFill>
                  <a:srgbClr val="0F2C59"/>
                </a:solidFill>
              </a:defRPr>
            </a:pPr>
            <a:r>
              <a:t>•  Actionable RFI Generation</a:t>
            </a:r>
          </a:p>
          <a:p>
            <a:pPr>
              <a:spcAft>
                <a:spcPts val="800"/>
              </a:spcAft>
              <a:defRPr sz="1050">
                <a:solidFill>
                  <a:srgbClr val="334155"/>
                </a:solidFill>
              </a:defRPr>
            </a:pPr>
            <a:r>
              <a:t>    The refusal engine outputs structured queries for structural consultants rather than guesses.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Traceable Sample Quantity Results: Proof-of-Method</a:t>
            </a:r>
          </a:p>
        </p:txBody>
      </p:sp>
      <p:sp>
        <p:nvSpPr>
          <p:cNvPr id="5" name="TextBox 4"/>
          <p:cNvSpPr txBox="1"/>
          <p:nvPr/>
        </p:nvSpPr>
        <p:spPr>
          <a:xfrm>
            <a:off x="731520" y="1353312"/>
            <a:ext cx="10728655" cy="347472"/>
          </a:xfrm>
          <a:prstGeom prst="rect">
            <a:avLst/>
          </a:prstGeom>
          <a:noFill/>
        </p:spPr>
        <p:txBody>
          <a:bodyPr wrap="square">
            <a:spAutoFit/>
          </a:bodyPr>
          <a:lstStyle/>
          <a:p>
            <a:pPr>
              <a:defRPr sz="1100" b="1">
                <a:solidFill>
                  <a:srgbClr val="2B6CB0"/>
                </a:solidFill>
              </a:defRPr>
            </a:pPr>
            <a:r>
              <a:t>Traceable sample calculations formula-recomputed from controlled dimensions on Sheet AR/TD/005 | Full takeoff remains blocked where evidence is missing.</a:t>
            </a:r>
          </a:p>
        </p:txBody>
      </p:sp>
      <p:graphicFrame>
        <p:nvGraphicFramePr>
          <p:cNvPr id="6" name="Table 5"/>
          <p:cNvGraphicFramePr>
            <a:graphicFrameLocks noGrp="1"/>
          </p:cNvGraphicFramePr>
          <p:nvPr/>
        </p:nvGraphicFramePr>
        <p:xfrm>
          <a:off x="731520" y="1755648"/>
          <a:ext cx="10728655" cy="2971800"/>
        </p:xfrm>
        <a:graphic>
          <a:graphicData uri="http://schemas.openxmlformats.org/drawingml/2006/table">
            <a:tbl>
              <a:tblPr firstRow="1" bandRow="1">
                <a:tableStyleId>{5C22544A-7EE6-4342-B048-85BDC9FD1C3A}</a:tableStyleId>
              </a:tblPr>
              <a:tblGrid>
                <a:gridCol w="1645920"/>
                <a:gridCol w="2103120"/>
                <a:gridCol w="1828800"/>
                <a:gridCol w="2011680"/>
                <a:gridCol w="1645920"/>
                <a:gridCol w="1493215"/>
              </a:tblGrid>
              <a:tr h="424542">
                <a:tc>
                  <a:txBody>
                    <a:bodyPr/>
                    <a:lstStyle/>
                    <a:p>
                      <a:pPr algn="ctr">
                        <a:defRPr sz="1000" b="1">
                          <a:solidFill>
                            <a:srgbClr val="FFFFFF"/>
                          </a:solidFill>
                        </a:defRPr>
                      </a:pPr>
                      <a:r>
                        <a:t>Element Tag</a:t>
                      </a:r>
                    </a:p>
                  </a:txBody>
                  <a:tcPr>
                    <a:solidFill>
                      <a:srgbClr val="1E3A8A"/>
                    </a:solidFill>
                  </a:tcPr>
                </a:tc>
                <a:tc>
                  <a:txBody>
                    <a:bodyPr/>
                    <a:lstStyle/>
                    <a:p>
                      <a:pPr algn="ctr">
                        <a:defRPr sz="1000" b="1">
                          <a:solidFill>
                            <a:srgbClr val="FFFFFF"/>
                          </a:solidFill>
                        </a:defRPr>
                      </a:pPr>
                      <a:r>
                        <a:t>Description</a:t>
                      </a:r>
                    </a:p>
                  </a:txBody>
                  <a:tcPr>
                    <a:solidFill>
                      <a:srgbClr val="1E3A8A"/>
                    </a:solidFill>
                  </a:tcPr>
                </a:tc>
                <a:tc>
                  <a:txBody>
                    <a:bodyPr/>
                    <a:lstStyle/>
                    <a:p>
                      <a:pPr algn="ctr">
                        <a:defRPr sz="1000" b="1">
                          <a:solidFill>
                            <a:srgbClr val="FFFFFF"/>
                          </a:solidFill>
                        </a:defRPr>
                      </a:pPr>
                      <a:r>
                        <a:t>Observed Dimensions</a:t>
                      </a:r>
                    </a:p>
                  </a:txBody>
                  <a:tcPr>
                    <a:solidFill>
                      <a:srgbClr val="1E3A8A"/>
                    </a:solidFill>
                  </a:tcPr>
                </a:tc>
                <a:tc>
                  <a:txBody>
                    <a:bodyPr/>
                    <a:lstStyle/>
                    <a:p>
                      <a:pPr algn="ctr">
                        <a:defRPr sz="1000" b="1">
                          <a:solidFill>
                            <a:srgbClr val="FFFFFF"/>
                          </a:solidFill>
                        </a:defRPr>
                      </a:pPr>
                      <a:r>
                        <a:t>Calculation Formula</a:t>
                      </a:r>
                    </a:p>
                  </a:txBody>
                  <a:tcPr>
                    <a:solidFill>
                      <a:srgbClr val="1E3A8A"/>
                    </a:solidFill>
                  </a:tcPr>
                </a:tc>
                <a:tc>
                  <a:txBody>
                    <a:bodyPr/>
                    <a:lstStyle/>
                    <a:p>
                      <a:pPr algn="ctr">
                        <a:defRPr sz="1000" b="1">
                          <a:solidFill>
                            <a:srgbClr val="FFFFFF"/>
                          </a:solidFill>
                        </a:defRPr>
                      </a:pPr>
                      <a:r>
                        <a:t>Calculated Output</a:t>
                      </a:r>
                    </a:p>
                  </a:txBody>
                  <a:tcPr>
                    <a:solidFill>
                      <a:srgbClr val="1E3A8A"/>
                    </a:solidFill>
                  </a:tcPr>
                </a:tc>
                <a:tc>
                  <a:txBody>
                    <a:bodyPr/>
                    <a:lstStyle/>
                    <a:p>
                      <a:pPr algn="ctr">
                        <a:defRPr sz="1000" b="1">
                          <a:solidFill>
                            <a:srgbClr val="FFFFFF"/>
                          </a:solidFill>
                        </a:defRPr>
                      </a:pPr>
                      <a:r>
                        <a:t>Provenance</a:t>
                      </a:r>
                    </a:p>
                  </a:txBody>
                  <a:tcPr>
                    <a:solidFill>
                      <a:srgbClr val="1E3A8A"/>
                    </a:solidFill>
                  </a:tcPr>
                </a:tc>
              </a:tr>
              <a:tr h="424542">
                <a:tc>
                  <a:txBody>
                    <a:bodyPr/>
                    <a:lstStyle/>
                    <a:p>
                      <a:pPr algn="ctr">
                        <a:defRPr sz="950" b="1">
                          <a:solidFill>
                            <a:srgbClr val="334155"/>
                          </a:solidFill>
                        </a:defRPr>
                      </a:pPr>
                      <a:r>
                        <a:t>D1</a:t>
                      </a:r>
                    </a:p>
                  </a:txBody>
                  <a:tcPr>
                    <a:solidFill>
                      <a:srgbClr val="FFFFFF"/>
                    </a:solidFill>
                  </a:tcPr>
                </a:tc>
                <a:tc>
                  <a:txBody>
                    <a:bodyPr/>
                    <a:lstStyle/>
                    <a:p>
                      <a:pPr>
                        <a:defRPr sz="950">
                          <a:solidFill>
                            <a:srgbClr val="334155"/>
                          </a:solidFill>
                        </a:defRPr>
                      </a:pPr>
                      <a:r>
                        <a:t>Toilet Door</a:t>
                      </a:r>
                    </a:p>
                  </a:txBody>
                  <a:tcPr>
                    <a:solidFill>
                      <a:srgbClr val="FFFFFF"/>
                    </a:solidFill>
                  </a:tcPr>
                </a:tc>
                <a:tc>
                  <a:txBody>
                    <a:bodyPr/>
                    <a:lstStyle/>
                    <a:p>
                      <a:pPr>
                        <a:defRPr sz="950">
                          <a:solidFill>
                            <a:srgbClr val="334155"/>
                          </a:solidFill>
                        </a:defRPr>
                      </a:pPr>
                      <a:r>
                        <a:t>0.800 m x 2.100 m</a:t>
                      </a:r>
                    </a:p>
                  </a:txBody>
                  <a:tcPr>
                    <a:solidFill>
                      <a:srgbClr val="FFFFFF"/>
                    </a:solidFill>
                  </a:tcPr>
                </a:tc>
                <a:tc>
                  <a:txBody>
                    <a:bodyPr/>
                    <a:lstStyle/>
                    <a:p>
                      <a:pPr>
                        <a:defRPr sz="950">
                          <a:solidFill>
                            <a:srgbClr val="334155"/>
                          </a:solidFill>
                        </a:defRPr>
                      </a:pPr>
                      <a:r>
                        <a:t>width_m x height_m</a:t>
                      </a:r>
                    </a:p>
                  </a:txBody>
                  <a:tcPr>
                    <a:solidFill>
                      <a:srgbClr val="FFFFFF"/>
                    </a:solidFill>
                  </a:tcPr>
                </a:tc>
                <a:tc>
                  <a:txBody>
                    <a:bodyPr/>
                    <a:lstStyle/>
                    <a:p>
                      <a:pPr algn="ctr">
                        <a:defRPr sz="950" b="1">
                          <a:solidFill>
                            <a:srgbClr val="0F2C59"/>
                          </a:solidFill>
                        </a:defRPr>
                      </a:pPr>
                      <a:r>
                        <a:t>1.680 m2</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24542">
                <a:tc>
                  <a:txBody>
                    <a:bodyPr/>
                    <a:lstStyle/>
                    <a:p>
                      <a:pPr algn="ctr">
                        <a:defRPr sz="950" b="1">
                          <a:solidFill>
                            <a:srgbClr val="334155"/>
                          </a:solidFill>
                        </a:defRPr>
                      </a:pPr>
                      <a:r>
                        <a:t>W1</a:t>
                      </a:r>
                    </a:p>
                  </a:txBody>
                  <a:tcPr>
                    <a:solidFill>
                      <a:srgbClr val="F8FAFC"/>
                    </a:solidFill>
                  </a:tcPr>
                </a:tc>
                <a:tc>
                  <a:txBody>
                    <a:bodyPr/>
                    <a:lstStyle/>
                    <a:p>
                      <a:pPr>
                        <a:defRPr sz="950">
                          <a:solidFill>
                            <a:srgbClr val="334155"/>
                          </a:solidFill>
                        </a:defRPr>
                      </a:pPr>
                      <a:r>
                        <a:t>Bedroom Window</a:t>
                      </a:r>
                    </a:p>
                  </a:txBody>
                  <a:tcPr>
                    <a:solidFill>
                      <a:srgbClr val="F8FAFC"/>
                    </a:solidFill>
                  </a:tcPr>
                </a:tc>
                <a:tc>
                  <a:txBody>
                    <a:bodyPr/>
                    <a:lstStyle/>
                    <a:p>
                      <a:pPr>
                        <a:defRPr sz="950">
                          <a:solidFill>
                            <a:srgbClr val="334155"/>
                          </a:solidFill>
                        </a:defRPr>
                      </a:pPr>
                      <a:r>
                        <a:t>1.200 m x 1.200 m</a:t>
                      </a:r>
                    </a:p>
                  </a:txBody>
                  <a:tcPr>
                    <a:solidFill>
                      <a:srgbClr val="F8FAFC"/>
                    </a:solidFill>
                  </a:tcPr>
                </a:tc>
                <a:tc>
                  <a:txBody>
                    <a:bodyPr/>
                    <a:lstStyle/>
                    <a:p>
                      <a:pPr>
                        <a:defRPr sz="950">
                          <a:solidFill>
                            <a:srgbClr val="334155"/>
                          </a:solidFill>
                        </a:defRPr>
                      </a:pPr>
                      <a:r>
                        <a:t>width_m x height_m</a:t>
                      </a:r>
                    </a:p>
                  </a:txBody>
                  <a:tcPr>
                    <a:solidFill>
                      <a:srgbClr val="F8FAFC"/>
                    </a:solidFill>
                  </a:tcPr>
                </a:tc>
                <a:tc>
                  <a:txBody>
                    <a:bodyPr/>
                    <a:lstStyle/>
                    <a:p>
                      <a:pPr algn="ctr">
                        <a:defRPr sz="950" b="1">
                          <a:solidFill>
                            <a:srgbClr val="0F2C59"/>
                          </a:solidFill>
                        </a:defRPr>
                      </a:pPr>
                      <a:r>
                        <a:t>1.440 m2</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r h="424542">
                <a:tc>
                  <a:txBody>
                    <a:bodyPr/>
                    <a:lstStyle/>
                    <a:p>
                      <a:pPr algn="ctr">
                        <a:defRPr sz="950" b="1">
                          <a:solidFill>
                            <a:srgbClr val="334155"/>
                          </a:solidFill>
                        </a:defRPr>
                      </a:pPr>
                      <a:r>
                        <a:t>DW1</a:t>
                      </a:r>
                    </a:p>
                  </a:txBody>
                  <a:tcPr>
                    <a:solidFill>
                      <a:srgbClr val="FFFFFF"/>
                    </a:solidFill>
                  </a:tcPr>
                </a:tc>
                <a:tc>
                  <a:txBody>
                    <a:bodyPr/>
                    <a:lstStyle/>
                    <a:p>
                      <a:pPr>
                        <a:defRPr sz="950">
                          <a:solidFill>
                            <a:srgbClr val="334155"/>
                          </a:solidFill>
                        </a:defRPr>
                      </a:pPr>
                      <a:r>
                        <a:t>Door-Window Combo</a:t>
                      </a:r>
                    </a:p>
                  </a:txBody>
                  <a:tcPr>
                    <a:solidFill>
                      <a:srgbClr val="FFFFFF"/>
                    </a:solidFill>
                  </a:tcPr>
                </a:tc>
                <a:tc>
                  <a:txBody>
                    <a:bodyPr/>
                    <a:lstStyle/>
                    <a:p>
                      <a:pPr>
                        <a:defRPr sz="950">
                          <a:solidFill>
                            <a:srgbClr val="334155"/>
                          </a:solidFill>
                        </a:defRPr>
                      </a:pPr>
                      <a:r>
                        <a:t>2.000 m x 2.100 m</a:t>
                      </a:r>
                    </a:p>
                  </a:txBody>
                  <a:tcPr>
                    <a:solidFill>
                      <a:srgbClr val="FFFFFF"/>
                    </a:solidFill>
                  </a:tcPr>
                </a:tc>
                <a:tc>
                  <a:txBody>
                    <a:bodyPr/>
                    <a:lstStyle/>
                    <a:p>
                      <a:pPr>
                        <a:defRPr sz="950">
                          <a:solidFill>
                            <a:srgbClr val="334155"/>
                          </a:solidFill>
                        </a:defRPr>
                      </a:pPr>
                      <a:r>
                        <a:t>width_m x height_m</a:t>
                      </a:r>
                    </a:p>
                  </a:txBody>
                  <a:tcPr>
                    <a:solidFill>
                      <a:srgbClr val="FFFFFF"/>
                    </a:solidFill>
                  </a:tcPr>
                </a:tc>
                <a:tc>
                  <a:txBody>
                    <a:bodyPr/>
                    <a:lstStyle/>
                    <a:p>
                      <a:pPr algn="ctr">
                        <a:defRPr sz="950" b="1">
                          <a:solidFill>
                            <a:srgbClr val="0F2C59"/>
                          </a:solidFill>
                        </a:defRPr>
                      </a:pPr>
                      <a:r>
                        <a:t>4.200 m2</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24542">
                <a:tc>
                  <a:txBody>
                    <a:bodyPr/>
                    <a:lstStyle/>
                    <a:p>
                      <a:pPr algn="ctr">
                        <a:defRPr sz="950" b="1">
                          <a:solidFill>
                            <a:srgbClr val="334155"/>
                          </a:solidFill>
                        </a:defRPr>
                      </a:pPr>
                      <a:r>
                        <a:t>Living / Dining</a:t>
                      </a:r>
                    </a:p>
                  </a:txBody>
                  <a:tcPr>
                    <a:solidFill>
                      <a:srgbClr val="F8FAFC"/>
                    </a:solidFill>
                  </a:tcPr>
                </a:tc>
                <a:tc>
                  <a:txBody>
                    <a:bodyPr/>
                    <a:lstStyle/>
                    <a:p>
                      <a:pPr>
                        <a:defRPr sz="950">
                          <a:solidFill>
                            <a:srgbClr val="334155"/>
                          </a:solidFill>
                        </a:defRPr>
                      </a:pPr>
                      <a:r>
                        <a:t>Carpet Area</a:t>
                      </a:r>
                    </a:p>
                  </a:txBody>
                  <a:tcPr>
                    <a:solidFill>
                      <a:srgbClr val="F8FAFC"/>
                    </a:solidFill>
                  </a:tcPr>
                </a:tc>
                <a:tc>
                  <a:txBody>
                    <a:bodyPr/>
                    <a:lstStyle/>
                    <a:p>
                      <a:pPr>
                        <a:defRPr sz="950">
                          <a:solidFill>
                            <a:srgbClr val="334155"/>
                          </a:solidFill>
                        </a:defRPr>
                      </a:pPr>
                      <a:r>
                        <a:t>5.520 m x 3.970 m</a:t>
                      </a:r>
                    </a:p>
                  </a:txBody>
                  <a:tcPr>
                    <a:solidFill>
                      <a:srgbClr val="F8FAFC"/>
                    </a:solidFill>
                  </a:tcPr>
                </a:tc>
                <a:tc>
                  <a:txBody>
                    <a:bodyPr/>
                    <a:lstStyle/>
                    <a:p>
                      <a:pPr>
                        <a:defRPr sz="950">
                          <a:solidFill>
                            <a:srgbClr val="334155"/>
                          </a:solidFill>
                        </a:defRPr>
                      </a:pPr>
                      <a:r>
                        <a:t>clear_L x clear_W</a:t>
                      </a:r>
                    </a:p>
                  </a:txBody>
                  <a:tcPr>
                    <a:solidFill>
                      <a:srgbClr val="F8FAFC"/>
                    </a:solidFill>
                  </a:tcPr>
                </a:tc>
                <a:tc>
                  <a:txBody>
                    <a:bodyPr/>
                    <a:lstStyle/>
                    <a:p>
                      <a:pPr algn="ctr">
                        <a:defRPr sz="950" b="1">
                          <a:solidFill>
                            <a:srgbClr val="0F2C59"/>
                          </a:solidFill>
                        </a:defRPr>
                      </a:pPr>
                      <a:r>
                        <a:t>21.914 m2</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r h="424542">
                <a:tc>
                  <a:txBody>
                    <a:bodyPr/>
                    <a:lstStyle/>
                    <a:p>
                      <a:pPr algn="ctr">
                        <a:defRPr sz="950" b="1">
                          <a:solidFill>
                            <a:srgbClr val="334155"/>
                          </a:solidFill>
                        </a:defRPr>
                      </a:pPr>
                      <a:r>
                        <a:t>Master Bedroom</a:t>
                      </a:r>
                    </a:p>
                  </a:txBody>
                  <a:tcPr>
                    <a:solidFill>
                      <a:srgbClr val="FFFFFF"/>
                    </a:solidFill>
                  </a:tcPr>
                </a:tc>
                <a:tc>
                  <a:txBody>
                    <a:bodyPr/>
                    <a:lstStyle/>
                    <a:p>
                      <a:pPr>
                        <a:defRPr sz="950">
                          <a:solidFill>
                            <a:srgbClr val="334155"/>
                          </a:solidFill>
                        </a:defRPr>
                      </a:pPr>
                      <a:r>
                        <a:t>Carpet Area</a:t>
                      </a:r>
                    </a:p>
                  </a:txBody>
                  <a:tcPr>
                    <a:solidFill>
                      <a:srgbClr val="FFFFFF"/>
                    </a:solidFill>
                  </a:tcPr>
                </a:tc>
                <a:tc>
                  <a:txBody>
                    <a:bodyPr/>
                    <a:lstStyle/>
                    <a:p>
                      <a:pPr>
                        <a:defRPr sz="950">
                          <a:solidFill>
                            <a:srgbClr val="334155"/>
                          </a:solidFill>
                        </a:defRPr>
                      </a:pPr>
                      <a:r>
                        <a:t>3.845 m x 3.220 m</a:t>
                      </a:r>
                    </a:p>
                  </a:txBody>
                  <a:tcPr>
                    <a:solidFill>
                      <a:srgbClr val="FFFFFF"/>
                    </a:solidFill>
                  </a:tcPr>
                </a:tc>
                <a:tc>
                  <a:txBody>
                    <a:bodyPr/>
                    <a:lstStyle/>
                    <a:p>
                      <a:pPr>
                        <a:defRPr sz="950">
                          <a:solidFill>
                            <a:srgbClr val="334155"/>
                          </a:solidFill>
                        </a:defRPr>
                      </a:pPr>
                      <a:r>
                        <a:t>clear_L x clear_W</a:t>
                      </a:r>
                    </a:p>
                  </a:txBody>
                  <a:tcPr>
                    <a:solidFill>
                      <a:srgbClr val="FFFFFF"/>
                    </a:solidFill>
                  </a:tcPr>
                </a:tc>
                <a:tc>
                  <a:txBody>
                    <a:bodyPr/>
                    <a:lstStyle/>
                    <a:p>
                      <a:pPr algn="ctr">
                        <a:defRPr sz="950" b="1">
                          <a:solidFill>
                            <a:srgbClr val="0F2C59"/>
                          </a:solidFill>
                        </a:defRPr>
                      </a:pPr>
                      <a:r>
                        <a:t>12.381 m2</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24548">
                <a:tc>
                  <a:txBody>
                    <a:bodyPr/>
                    <a:lstStyle/>
                    <a:p>
                      <a:pPr algn="ctr">
                        <a:defRPr sz="950" b="1">
                          <a:solidFill>
                            <a:srgbClr val="334155"/>
                          </a:solidFill>
                        </a:defRPr>
                      </a:pPr>
                      <a:r>
                        <a:t>Kitchen</a:t>
                      </a:r>
                    </a:p>
                  </a:txBody>
                  <a:tcPr>
                    <a:solidFill>
                      <a:srgbClr val="F8FAFC"/>
                    </a:solidFill>
                  </a:tcPr>
                </a:tc>
                <a:tc>
                  <a:txBody>
                    <a:bodyPr/>
                    <a:lstStyle/>
                    <a:p>
                      <a:pPr>
                        <a:defRPr sz="950">
                          <a:solidFill>
                            <a:srgbClr val="334155"/>
                          </a:solidFill>
                        </a:defRPr>
                      </a:pPr>
                      <a:r>
                        <a:t>Carpet Area</a:t>
                      </a:r>
                    </a:p>
                  </a:txBody>
                  <a:tcPr>
                    <a:solidFill>
                      <a:srgbClr val="F8FAFC"/>
                    </a:solidFill>
                  </a:tcPr>
                </a:tc>
                <a:tc>
                  <a:txBody>
                    <a:bodyPr/>
                    <a:lstStyle/>
                    <a:p>
                      <a:pPr>
                        <a:defRPr sz="950">
                          <a:solidFill>
                            <a:srgbClr val="334155"/>
                          </a:solidFill>
                        </a:defRPr>
                      </a:pPr>
                      <a:r>
                        <a:t>2.580 m x 2.440 m</a:t>
                      </a:r>
                    </a:p>
                  </a:txBody>
                  <a:tcPr>
                    <a:solidFill>
                      <a:srgbClr val="F8FAFC"/>
                    </a:solidFill>
                  </a:tcPr>
                </a:tc>
                <a:tc>
                  <a:txBody>
                    <a:bodyPr/>
                    <a:lstStyle/>
                    <a:p>
                      <a:pPr>
                        <a:defRPr sz="950">
                          <a:solidFill>
                            <a:srgbClr val="334155"/>
                          </a:solidFill>
                        </a:defRPr>
                      </a:pPr>
                      <a:r>
                        <a:t>clear_L x clear_W</a:t>
                      </a:r>
                    </a:p>
                  </a:txBody>
                  <a:tcPr>
                    <a:solidFill>
                      <a:srgbClr val="F8FAFC"/>
                    </a:solidFill>
                  </a:tcPr>
                </a:tc>
                <a:tc>
                  <a:txBody>
                    <a:bodyPr/>
                    <a:lstStyle/>
                    <a:p>
                      <a:pPr algn="ctr">
                        <a:defRPr sz="950" b="1">
                          <a:solidFill>
                            <a:srgbClr val="0F2C59"/>
                          </a:solidFill>
                        </a:defRPr>
                      </a:pPr>
                      <a:r>
                        <a:t>6.295 m2</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bl>
          </a:graphicData>
        </a:graphic>
      </p:graphicFrame>
      <p:sp>
        <p:nvSpPr>
          <p:cNvPr id="7" name="Rectangle 6"/>
          <p:cNvSpPr/>
          <p:nvPr/>
        </p:nvSpPr>
        <p:spPr>
          <a:xfrm>
            <a:off x="731520" y="4919472"/>
            <a:ext cx="10728655" cy="11155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83480"/>
            <a:ext cx="10362895" cy="960120"/>
          </a:xfrm>
          <a:prstGeom prst="rect">
            <a:avLst/>
          </a:prstGeom>
          <a:noFill/>
        </p:spPr>
        <p:txBody>
          <a:bodyPr wrap="square">
            <a:spAutoFit/>
          </a:bodyPr>
          <a:lstStyle/>
          <a:p>
            <a:pPr>
              <a:defRPr sz="1050" b="1">
                <a:solidFill>
                  <a:srgbClr val="0F2C59"/>
                </a:solidFill>
              </a:defRPr>
            </a:pPr>
            <a:r>
              <a:t>METHODOLOGICAL BOUNDARY CERTIFICATION</a:t>
            </a:r>
          </a:p>
          <a:p>
            <a:pPr>
              <a:defRPr sz="950">
                <a:solidFill>
                  <a:srgbClr val="334155"/>
                </a:solidFill>
              </a:defRPr>
            </a:pPr>
            <a:r>
              <a:t>•  Single-Element Verification: Calculations are executed strictly on single isolated units directly observed from Sheet AR/TD/005.</a:t>
            </a:r>
          </a:p>
          <a:p>
            <a:pPr>
              <a:defRPr sz="950">
                <a:solidFill>
                  <a:srgbClr val="334155"/>
                </a:solidFill>
              </a:defRPr>
            </a:pPr>
            <a:r>
              <a:t>•  Zero Multiplier Application: Results are intentionally not multiplied by 4 flats/floor or 24 flats/tower to preserve geometric truth.</a:t>
            </a:r>
          </a:p>
          <a:p>
            <a:pPr>
              <a:defRPr sz="950">
                <a:solidFill>
                  <a:srgbClr val="334155"/>
                </a:solidFill>
              </a:defRPr>
            </a:pPr>
            <a:r>
              <a:t>•  Full Takeoff Blocked: Bulk quantities (tower concrete, steel tonnage, total brickwork) remain blocked until missing schedules are resolved.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Project Limitations &amp; Explicitly Blocked Scopes</a:t>
            </a:r>
          </a:p>
        </p:txBody>
      </p:sp>
      <p:sp>
        <p:nvSpPr>
          <p:cNvPr id="5" name="TextBox 4"/>
          <p:cNvSpPr txBox="1"/>
          <p:nvPr/>
        </p:nvSpPr>
        <p:spPr>
          <a:xfrm>
            <a:off x="731520" y="1353312"/>
            <a:ext cx="10728655" cy="347472"/>
          </a:xfrm>
          <a:prstGeom prst="rect">
            <a:avLst/>
          </a:prstGeom>
          <a:noFill/>
        </p:spPr>
        <p:txBody>
          <a:bodyPr wrap="square">
            <a:spAutoFit/>
          </a:bodyPr>
          <a:lstStyle/>
          <a:p>
            <a:pPr>
              <a:defRPr sz="1100" b="1">
                <a:solidFill>
                  <a:srgbClr val="B91C1C"/>
                </a:solidFill>
              </a:defRPr>
            </a:pPr>
            <a:r>
              <a:t>Full takeoff remains blocked across 14 major civil packages due to missing tender schedules.</a:t>
            </a:r>
          </a:p>
        </p:txBody>
      </p:sp>
      <p:graphicFrame>
        <p:nvGraphicFramePr>
          <p:cNvPr id="6" name="Table 5"/>
          <p:cNvGraphicFramePr>
            <a:graphicFrameLocks noGrp="1"/>
          </p:cNvGraphicFramePr>
          <p:nvPr/>
        </p:nvGraphicFramePr>
        <p:xfrm>
          <a:off x="731520" y="1755648"/>
          <a:ext cx="10728655" cy="3063240"/>
        </p:xfrm>
        <a:graphic>
          <a:graphicData uri="http://schemas.openxmlformats.org/drawingml/2006/table">
            <a:tbl>
              <a:tblPr firstRow="1" bandRow="1">
                <a:tableStyleId>{5C22544A-7EE6-4342-B048-85BDC9FD1C3A}</a:tableStyleId>
              </a:tblPr>
              <a:tblGrid>
                <a:gridCol w="2011680"/>
                <a:gridCol w="3291840"/>
                <a:gridCol w="3108960"/>
                <a:gridCol w="2316175"/>
              </a:tblGrid>
              <a:tr h="510540">
                <a:tc>
                  <a:txBody>
                    <a:bodyPr/>
                    <a:lstStyle/>
                    <a:p>
                      <a:pPr algn="ctr">
                        <a:defRPr sz="1000" b="1">
                          <a:solidFill>
                            <a:srgbClr val="FFFFFF"/>
                          </a:solidFill>
                        </a:defRPr>
                      </a:pPr>
                      <a:r>
                        <a:t>Work Package</a:t>
                      </a:r>
                    </a:p>
                  </a:txBody>
                  <a:tcPr>
                    <a:solidFill>
                      <a:srgbClr val="B91C1C"/>
                    </a:solidFill>
                  </a:tcPr>
                </a:tc>
                <a:tc>
                  <a:txBody>
                    <a:bodyPr/>
                    <a:lstStyle/>
                    <a:p>
                      <a:pPr algn="ctr">
                        <a:defRPr sz="1000" b="1">
                          <a:solidFill>
                            <a:srgbClr val="FFFFFF"/>
                          </a:solidFill>
                        </a:defRPr>
                      </a:pPr>
                      <a:r>
                        <a:t>Specific Missing Input on Drawings</a:t>
                      </a:r>
                    </a:p>
                  </a:txBody>
                  <a:tcPr>
                    <a:solidFill>
                      <a:srgbClr val="B91C1C"/>
                    </a:solidFill>
                  </a:tcPr>
                </a:tc>
                <a:tc>
                  <a:txBody>
                    <a:bodyPr/>
                    <a:lstStyle/>
                    <a:p>
                      <a:pPr algn="ctr">
                        <a:defRPr sz="1000" b="1">
                          <a:solidFill>
                            <a:srgbClr val="FFFFFF"/>
                          </a:solidFill>
                        </a:defRPr>
                      </a:pPr>
                      <a:r>
                        <a:t>Risk of Estimation</a:t>
                      </a:r>
                    </a:p>
                  </a:txBody>
                  <a:tcPr>
                    <a:solidFill>
                      <a:srgbClr val="B91C1C"/>
                    </a:solidFill>
                  </a:tcPr>
                </a:tc>
                <a:tc>
                  <a:txBody>
                    <a:bodyPr/>
                    <a:lstStyle/>
                    <a:p>
                      <a:pPr algn="ctr">
                        <a:defRPr sz="1000" b="1">
                          <a:solidFill>
                            <a:srgbClr val="FFFFFF"/>
                          </a:solidFill>
                        </a:defRPr>
                      </a:pPr>
                      <a:r>
                        <a:t>Required Unblocking Action</a:t>
                      </a:r>
                    </a:p>
                  </a:txBody>
                  <a:tcPr>
                    <a:solidFill>
                      <a:srgbClr val="B91C1C"/>
                    </a:solidFill>
                  </a:tcPr>
                </a:tc>
              </a:tr>
              <a:tr h="510540">
                <a:tc>
                  <a:txBody>
                    <a:bodyPr/>
                    <a:lstStyle/>
                    <a:p>
                      <a:pPr>
                        <a:defRPr sz="950" b="1">
                          <a:solidFill>
                            <a:srgbClr val="0F2C59"/>
                          </a:solidFill>
                        </a:defRPr>
                      </a:pPr>
                      <a:r>
                        <a:t>Bored Piling Concrete</a:t>
                      </a:r>
                    </a:p>
                  </a:txBody>
                  <a:tcPr>
                    <a:solidFill>
                      <a:srgbClr val="FFFFFF"/>
                    </a:solidFill>
                  </a:tcPr>
                </a:tc>
                <a:tc>
                  <a:txBody>
                    <a:bodyPr/>
                    <a:lstStyle/>
                    <a:p>
                      <a:pPr>
                        <a:defRPr sz="950">
                          <a:solidFill>
                            <a:srgbClr val="334155"/>
                          </a:solidFill>
                        </a:defRPr>
                      </a:pPr>
                      <a:r>
                        <a:t>Pile termination depth omitted on Sheet 100; DBR specifies 15m-20m range.</a:t>
                      </a:r>
                    </a:p>
                  </a:txBody>
                  <a:tcPr>
                    <a:solidFill>
                      <a:srgbClr val="FFFFFF"/>
                    </a:solidFill>
                  </a:tcPr>
                </a:tc>
                <a:tc>
                  <a:txBody>
                    <a:bodyPr/>
                    <a:lstStyle/>
                    <a:p>
                      <a:pPr>
                        <a:defRPr sz="950">
                          <a:solidFill>
                            <a:srgbClr val="334155"/>
                          </a:solidFill>
                        </a:defRPr>
                      </a:pPr>
                      <a:r>
                        <a:t>20% foundation concrete volume variance across 207 piles.</a:t>
                      </a:r>
                    </a:p>
                  </a:txBody>
                  <a:tcPr>
                    <a:solidFill>
                      <a:srgbClr val="FFFFFF"/>
                    </a:solidFill>
                  </a:tcPr>
                </a:tc>
                <a:tc>
                  <a:txBody>
                    <a:bodyPr/>
                    <a:lstStyle/>
                    <a:p>
                      <a:pPr>
                        <a:defRPr sz="950">
                          <a:solidFill>
                            <a:srgbClr val="334155"/>
                          </a:solidFill>
                        </a:defRPr>
                      </a:pPr>
                      <a:r>
                        <a:t>Issue RFI for structural engineer pile termination schedule.</a:t>
                      </a:r>
                    </a:p>
                  </a:txBody>
                  <a:tcPr>
                    <a:solidFill>
                      <a:srgbClr val="FFFFFF"/>
                    </a:solidFill>
                  </a:tcPr>
                </a:tc>
              </a:tr>
              <a:tr h="510540">
                <a:tc>
                  <a:txBody>
                    <a:bodyPr/>
                    <a:lstStyle/>
                    <a:p>
                      <a:pPr>
                        <a:defRPr sz="950" b="1">
                          <a:solidFill>
                            <a:srgbClr val="0F2C59"/>
                          </a:solidFill>
                        </a:defRPr>
                      </a:pPr>
                      <a:r>
                        <a:t>RCC Pile Caps</a:t>
                      </a:r>
                    </a:p>
                  </a:txBody>
                  <a:tcPr>
                    <a:solidFill>
                      <a:srgbClr val="F8FAFC"/>
                    </a:solidFill>
                  </a:tcPr>
                </a:tc>
                <a:tc>
                  <a:txBody>
                    <a:bodyPr/>
                    <a:lstStyle/>
                    <a:p>
                      <a:pPr>
                        <a:defRPr sz="950">
                          <a:solidFill>
                            <a:srgbClr val="334155"/>
                          </a:solidFill>
                        </a:defRPr>
                      </a:pPr>
                      <a:r>
                        <a:t>Visual count on plan shows 54 caps vs 84 caps in margin schedule.</a:t>
                      </a:r>
                    </a:p>
                  </a:txBody>
                  <a:tcPr>
                    <a:solidFill>
                      <a:srgbClr val="F8FAFC"/>
                    </a:solidFill>
                  </a:tcPr>
                </a:tc>
                <a:tc>
                  <a:txBody>
                    <a:bodyPr/>
                    <a:lstStyle/>
                    <a:p>
                      <a:pPr>
                        <a:defRPr sz="950">
                          <a:solidFill>
                            <a:srgbClr val="334155"/>
                          </a:solidFill>
                        </a:defRPr>
                      </a:pPr>
                      <a:r>
                        <a:t>Punching shear depth &amp; geometry conflict under grouped columns.</a:t>
                      </a:r>
                    </a:p>
                  </a:txBody>
                  <a:tcPr>
                    <a:solidFill>
                      <a:srgbClr val="F8FAFC"/>
                    </a:solidFill>
                  </a:tcPr>
                </a:tc>
                <a:tc>
                  <a:txBody>
                    <a:bodyPr/>
                    <a:lstStyle/>
                    <a:p>
                      <a:pPr>
                        <a:defRPr sz="950">
                          <a:solidFill>
                            <a:srgbClr val="334155"/>
                          </a:solidFill>
                        </a:defRPr>
                      </a:pPr>
                      <a:r>
                        <a:t>Issue RFI for reconciled pile cap grouping schedule.</a:t>
                      </a:r>
                    </a:p>
                  </a:txBody>
                  <a:tcPr>
                    <a:solidFill>
                      <a:srgbClr val="F8FAFC"/>
                    </a:solidFill>
                  </a:tcPr>
                </a:tc>
              </a:tr>
              <a:tr h="510540">
                <a:tc>
                  <a:txBody>
                    <a:bodyPr/>
                    <a:lstStyle/>
                    <a:p>
                      <a:pPr>
                        <a:defRPr sz="950" b="1">
                          <a:solidFill>
                            <a:srgbClr val="0F2C59"/>
                          </a:solidFill>
                        </a:defRPr>
                      </a:pPr>
                      <a:r>
                        <a:t>Reinforcement Steel</a:t>
                      </a:r>
                    </a:p>
                  </a:txBody>
                  <a:tcPr>
                    <a:solidFill>
                      <a:srgbClr val="FFFFFF"/>
                    </a:solidFill>
                  </a:tcPr>
                </a:tc>
                <a:tc>
                  <a:txBody>
                    <a:bodyPr/>
                    <a:lstStyle/>
                    <a:p>
                      <a:pPr>
                        <a:defRPr sz="950">
                          <a:solidFill>
                            <a:srgbClr val="334155"/>
                          </a:solidFill>
                        </a:defRPr>
                      </a:pPr>
                      <a:r>
                        <a:t>Zero Bar Bending Schedules (BBS) issued for piles, caps, beams, or slabs.</a:t>
                      </a:r>
                    </a:p>
                  </a:txBody>
                  <a:tcPr>
                    <a:solidFill>
                      <a:srgbClr val="FFFFFF"/>
                    </a:solidFill>
                  </a:tcPr>
                </a:tc>
                <a:tc>
                  <a:txBody>
                    <a:bodyPr/>
                    <a:lstStyle/>
                    <a:p>
                      <a:pPr>
                        <a:defRPr sz="950">
                          <a:solidFill>
                            <a:srgbClr val="334155"/>
                          </a:solidFill>
                        </a:defRPr>
                      </a:pPr>
                      <a:r>
                        <a:t>Cut lengths, lap staggering, and crank hooks cannot be derived.</a:t>
                      </a:r>
                    </a:p>
                  </a:txBody>
                  <a:tcPr>
                    <a:solidFill>
                      <a:srgbClr val="FFFFFF"/>
                    </a:solidFill>
                  </a:tcPr>
                </a:tc>
                <a:tc>
                  <a:txBody>
                    <a:bodyPr/>
                    <a:lstStyle/>
                    <a:p>
                      <a:pPr>
                        <a:defRPr sz="950">
                          <a:solidFill>
                            <a:srgbClr val="334155"/>
                          </a:solidFill>
                        </a:defRPr>
                      </a:pPr>
                      <a:r>
                        <a:t>Obtain contractor/engineer approved BBS shop drawings.</a:t>
                      </a:r>
                    </a:p>
                  </a:txBody>
                  <a:tcPr>
                    <a:solidFill>
                      <a:srgbClr val="FFFFFF"/>
                    </a:solidFill>
                  </a:tcPr>
                </a:tc>
              </a:tr>
              <a:tr h="510540">
                <a:tc>
                  <a:txBody>
                    <a:bodyPr/>
                    <a:lstStyle/>
                    <a:p>
                      <a:pPr>
                        <a:defRPr sz="950" b="1">
                          <a:solidFill>
                            <a:srgbClr val="0F2C59"/>
                          </a:solidFill>
                        </a:defRPr>
                      </a:pPr>
                      <a:r>
                        <a:t>Brick Masonry</a:t>
                      </a:r>
                    </a:p>
                  </a:txBody>
                  <a:tcPr>
                    <a:solidFill>
                      <a:srgbClr val="F8FAFC"/>
                    </a:solidFill>
                  </a:tcPr>
                </a:tc>
                <a:tc>
                  <a:txBody>
                    <a:bodyPr/>
                    <a:lstStyle/>
                    <a:p>
                      <a:pPr>
                        <a:defRPr sz="950">
                          <a:solidFill>
                            <a:srgbClr val="334155"/>
                          </a:solidFill>
                        </a:defRPr>
                      </a:pPr>
                      <a:r>
                        <a:t>Floor-wise wall centerline lengths unsegregated; openings unmapped.</a:t>
                      </a:r>
                    </a:p>
                  </a:txBody>
                  <a:tcPr>
                    <a:solidFill>
                      <a:srgbClr val="F8FAFC"/>
                    </a:solidFill>
                  </a:tcPr>
                </a:tc>
                <a:tc>
                  <a:txBody>
                    <a:bodyPr/>
                    <a:lstStyle/>
                    <a:p>
                      <a:pPr>
                        <a:defRPr sz="950">
                          <a:solidFill>
                            <a:srgbClr val="334155"/>
                          </a:solidFill>
                        </a:defRPr>
                      </a:pPr>
                      <a:r>
                        <a:t>Miscalculation of net brickwork across non-standard partitions.</a:t>
                      </a:r>
                    </a:p>
                  </a:txBody>
                  <a:tcPr>
                    <a:solidFill>
                      <a:srgbClr val="F8FAFC"/>
                    </a:solidFill>
                  </a:tcPr>
                </a:tc>
                <a:tc>
                  <a:txBody>
                    <a:bodyPr/>
                    <a:lstStyle/>
                    <a:p>
                      <a:pPr>
                        <a:defRPr sz="950">
                          <a:solidFill>
                            <a:srgbClr val="334155"/>
                          </a:solidFill>
                        </a:defRPr>
                      </a:pPr>
                      <a:r>
                        <a:t>Perform room-wise coordinate mapping of partitions.</a:t>
                      </a:r>
                    </a:p>
                  </a:txBody>
                  <a:tcPr>
                    <a:solidFill>
                      <a:srgbClr val="F8FAFC"/>
                    </a:solidFill>
                  </a:tcPr>
                </a:tc>
              </a:tr>
              <a:tr h="510540">
                <a:tc>
                  <a:txBody>
                    <a:bodyPr/>
                    <a:lstStyle/>
                    <a:p>
                      <a:pPr>
                        <a:defRPr sz="950" b="1">
                          <a:solidFill>
                            <a:srgbClr val="0F2C59"/>
                          </a:solidFill>
                        </a:defRPr>
                      </a:pPr>
                      <a:r>
                        <a:t>Commercials &amp; Schedule</a:t>
                      </a:r>
                    </a:p>
                  </a:txBody>
                  <a:tcPr>
                    <a:solidFill>
                      <a:srgbClr val="FFFFFF"/>
                    </a:solidFill>
                  </a:tcPr>
                </a:tc>
                <a:tc>
                  <a:txBody>
                    <a:bodyPr/>
                    <a:lstStyle/>
                    <a:p>
                      <a:pPr>
                        <a:defRPr sz="950">
                          <a:solidFill>
                            <a:srgbClr val="334155"/>
                          </a:solidFill>
                        </a:defRPr>
                      </a:pPr>
                      <a:r>
                        <a:t>RITES tender provided only aggregate multi-building Schedule of Quantities.</a:t>
                      </a:r>
                    </a:p>
                  </a:txBody>
                  <a:tcPr>
                    <a:solidFill>
                      <a:srgbClr val="FFFFFF"/>
                    </a:solidFill>
                  </a:tcPr>
                </a:tc>
                <a:tc>
                  <a:txBody>
                    <a:bodyPr/>
                    <a:lstStyle/>
                    <a:p>
                      <a:pPr>
                        <a:defRPr sz="950">
                          <a:solidFill>
                            <a:srgbClr val="334155"/>
                          </a:solidFill>
                        </a:defRPr>
                      </a:pPr>
                      <a:r>
                        <a:t>No official single-tower contract price or CPM bar chart exists.</a:t>
                      </a:r>
                    </a:p>
                  </a:txBody>
                  <a:tcPr>
                    <a:solidFill>
                      <a:srgbClr val="FFFFFF"/>
                    </a:solidFill>
                  </a:tcPr>
                </a:tc>
                <a:tc>
                  <a:txBody>
                    <a:bodyPr/>
                    <a:lstStyle/>
                    <a:p>
                      <a:pPr>
                        <a:defRPr sz="950">
                          <a:solidFill>
                            <a:srgbClr val="334155"/>
                          </a:solidFill>
                        </a:defRPr>
                      </a:pPr>
                      <a:r>
                        <a:t>Cost accuracy not calculated; single-tower duration not calculated.</a:t>
                      </a:r>
                    </a:p>
                  </a:txBody>
                  <a:tcPr>
                    <a:solidFill>
                      <a:srgbClr val="FFFFFF"/>
                    </a:solidFill>
                  </a:tcPr>
                </a:tc>
              </a:tr>
            </a:tbl>
          </a:graphicData>
        </a:graphic>
      </p:graphicFrame>
      <p:sp>
        <p:nvSpPr>
          <p:cNvPr id="7" name="Rectangle 6"/>
          <p:cNvSpPr/>
          <p:nvPr/>
        </p:nvSpPr>
        <p:spPr>
          <a:xfrm>
            <a:off x="731520" y="4956048"/>
            <a:ext cx="10728655" cy="1078992"/>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29200"/>
            <a:ext cx="10362895" cy="914400"/>
          </a:xfrm>
          <a:prstGeom prst="rect">
            <a:avLst/>
          </a:prstGeom>
          <a:noFill/>
        </p:spPr>
        <p:txBody>
          <a:bodyPr wrap="square">
            <a:spAutoFit/>
          </a:bodyPr>
          <a:lstStyle/>
          <a:p>
            <a:pPr>
              <a:defRPr sz="1050" b="1">
                <a:solidFill>
                  <a:srgbClr val="0F2C59"/>
                </a:solidFill>
              </a:defRPr>
            </a:pPr>
            <a:r>
              <a:t>ETHICAL QUANTITY SURVEYING &amp; EVIDENCE DISCIPLINE</a:t>
            </a:r>
          </a:p>
          <a:p>
            <a:pPr>
              <a:defRPr sz="950">
                <a:solidFill>
                  <a:srgbClr val="334155"/>
                </a:solidFill>
              </a:defRPr>
            </a:pPr>
            <a:r>
              <a:t>Full takeoff remains blocked where evidence is missing. Cost accuracy is not calculated, quantity accuracy is not calculated, and BOQ validation was not performed. In public works civil engineering, documenting missing inputs and blocking execution is responsible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47472"/>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28655" cy="292608"/>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13232"/>
            <a:ext cx="10728655" cy="621792"/>
          </a:xfrm>
          <a:prstGeom prst="rect">
            <a:avLst/>
          </a:prstGeom>
          <a:noFill/>
        </p:spPr>
        <p:txBody>
          <a:bodyPr wrap="square" lIns="0" tIns="0" rIns="0" bIns="0">
            <a:spAutoFit/>
          </a:bodyPr>
          <a:lstStyle/>
          <a:p>
            <a:pPr>
              <a:defRPr sz="2100" b="1">
                <a:solidFill>
                  <a:srgbClr val="0F2C59"/>
                </a:solidFill>
              </a:defRPr>
            </a:pPr>
            <a:r>
              <a:t>Future Roadmap: Scaling from Pilot to Multi-Project Benchmark</a:t>
            </a:r>
          </a:p>
        </p:txBody>
      </p:sp>
      <p:sp>
        <p:nvSpPr>
          <p:cNvPr id="5" name="Rounded Rectangle 4"/>
          <p:cNvSpPr/>
          <p:nvPr/>
        </p:nvSpPr>
        <p:spPr>
          <a:xfrm>
            <a:off x="73152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Immediate Engineering Next Steps</a:t>
            </a:r>
          </a:p>
          <a:p>
            <a:pPr>
              <a:spcAft>
                <a:spcPts val="200"/>
              </a:spcAft>
              <a:defRPr sz="1150" b="1">
                <a:solidFill>
                  <a:srgbClr val="0F2C59"/>
                </a:solidFill>
              </a:defRPr>
            </a:pPr>
            <a:r>
              <a:t>•  Recover Prerequisite Engineering Records</a:t>
            </a:r>
          </a:p>
          <a:p>
            <a:pPr>
              <a:spcAft>
                <a:spcPts val="800"/>
              </a:spcAft>
              <a:defRPr sz="1050">
                <a:solidFill>
                  <a:srgbClr val="334155"/>
                </a:solidFill>
              </a:defRPr>
            </a:pPr>
            <a:r>
              <a:t>    Obtain official single-tower BOQ breakdown and contractor BBS shop drawings to unblock reinforcement and bulk concrete.</a:t>
            </a:r>
          </a:p>
          <a:p>
            <a:pPr>
              <a:spcAft>
                <a:spcPts val="200"/>
              </a:spcAft>
              <a:defRPr sz="1150" b="1">
                <a:solidFill>
                  <a:srgbClr val="0F2C59"/>
                </a:solidFill>
              </a:defRPr>
            </a:pPr>
            <a:r>
              <a:t>•  Multi-Project Cross-Validation</a:t>
            </a:r>
          </a:p>
          <a:p>
            <a:pPr>
              <a:spcAft>
                <a:spcPts val="800"/>
              </a:spcAft>
              <a:defRPr sz="1050">
                <a:solidFill>
                  <a:srgbClr val="334155"/>
                </a:solidFill>
              </a:defRPr>
            </a:pPr>
            <a:r>
              <a:t>    Apply the evidence-controlled transcription pipeline to a second public works project (CPWD/PSU) for cross-validation.</a:t>
            </a:r>
          </a:p>
        </p:txBody>
      </p:sp>
      <p:sp>
        <p:nvSpPr>
          <p:cNvPr id="7" name="Rounded Rectangle 6"/>
          <p:cNvSpPr/>
          <p:nvPr/>
        </p:nvSpPr>
        <p:spPr>
          <a:xfrm>
            <a:off x="6309360" y="1600200"/>
            <a:ext cx="5120640" cy="4480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63440" cy="4114800"/>
          </a:xfrm>
          <a:prstGeom prst="rect">
            <a:avLst/>
          </a:prstGeom>
          <a:noFill/>
        </p:spPr>
        <p:txBody>
          <a:bodyPr wrap="square" lIns="0" tIns="0" rIns="0" bIns="0">
            <a:spAutoFit/>
          </a:bodyPr>
          <a:lstStyle/>
          <a:p>
            <a:pPr>
              <a:spcAft>
                <a:spcPts val="1000"/>
              </a:spcAft>
              <a:defRPr sz="1350" b="1">
                <a:solidFill>
                  <a:srgbClr val="0F2C59"/>
                </a:solidFill>
              </a:defRPr>
            </a:pPr>
            <a:r>
              <a:t>Tooling &amp; Multi-Discipline Vision</a:t>
            </a:r>
          </a:p>
          <a:p>
            <a:pPr>
              <a:spcAft>
                <a:spcPts val="200"/>
              </a:spcAft>
              <a:defRPr sz="1150" b="1">
                <a:solidFill>
                  <a:srgbClr val="0F2C59"/>
                </a:solidFill>
              </a:defRPr>
            </a:pPr>
            <a:r>
              <a:t>•  Deploy Interactive Demonstration UI</a:t>
            </a:r>
          </a:p>
          <a:p>
            <a:pPr>
              <a:spcAft>
                <a:spcPts val="800"/>
              </a:spcAft>
              <a:defRPr sz="1050">
                <a:solidFill>
                  <a:srgbClr val="334155"/>
                </a:solidFill>
              </a:defRPr>
            </a:pPr>
            <a:r>
              <a:t>    Deploy a lightweight Streamlit/FastAPI interface showcasing real-time evidence provenance tracking, reconciliation matrices, and refusal guardrails.</a:t>
            </a:r>
          </a:p>
          <a:p>
            <a:pPr>
              <a:spcAft>
                <a:spcPts val="200"/>
              </a:spcAft>
              <a:defRPr sz="1150" b="1">
                <a:solidFill>
                  <a:srgbClr val="0F2C59"/>
                </a:solidFill>
              </a:defRPr>
            </a:pPr>
            <a:r>
              <a:t>•  Complete Building Services Transcription</a:t>
            </a:r>
          </a:p>
          <a:p>
            <a:pPr>
              <a:spcAft>
                <a:spcPts val="800"/>
              </a:spcAft>
              <a:defRPr sz="1050">
                <a:solidFill>
                  <a:srgbClr val="334155"/>
                </a:solidFill>
              </a:defRPr>
            </a:pPr>
            <a:r>
              <a:t>    Transcribe the 18 registered MEP sheets (plumbing, drainage, firefighting, electrical distribution) to complete the full multi-discipline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